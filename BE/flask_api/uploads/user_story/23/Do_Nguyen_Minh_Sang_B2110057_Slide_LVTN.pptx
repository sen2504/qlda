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300" r:id="rId8"/>
    <p:sldId id="262" r:id="rId9"/>
    <p:sldId id="263" r:id="rId10"/>
    <p:sldId id="264" r:id="rId11"/>
    <p:sldId id="301" r:id="rId12"/>
    <p:sldId id="321" r:id="rId13"/>
    <p:sldId id="322" r:id="rId14"/>
    <p:sldId id="293" r:id="rId15"/>
    <p:sldId id="324" r:id="rId16"/>
    <p:sldId id="325" r:id="rId17"/>
    <p:sldId id="323" r:id="rId18"/>
    <p:sldId id="294" r:id="rId1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874" y="6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move the slide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GB" sz="2000" b="0" strike="noStrike" spc="-1">
                <a:latin typeface="Arial"/>
              </a:rPr>
              <a:t>Click to edit the notes' format</a:t>
            </a:r>
          </a:p>
        </p:txBody>
      </p:sp>
      <p:sp>
        <p:nvSpPr>
          <p:cNvPr id="9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GB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1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GB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GB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2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GB" sz="1400" b="0" strike="noStrike" spc="-1">
                <a:latin typeface="Times New Roman"/>
              </a:defRPr>
            </a:lvl1pPr>
          </a:lstStyle>
          <a:p>
            <a:r>
              <a:rPr lang="en-GB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3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GB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98B378DC-5F4D-4527-A2B0-76F52940B23D}" type="slidenum">
              <a:rPr lang="en-GB" sz="1400" b="0" strike="noStrike" spc="-1">
                <a:latin typeface="Times New Roman"/>
              </a:rPr>
              <a:t>‹#›</a:t>
            </a:fld>
            <a:endParaRPr lang="en-GB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GB" sz="2000" b="0" strike="noStrike" spc="-1"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10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ZW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9BD060-6381-40EA-AF5A-A6DD4A736821}" type="slidenum">
              <a:rPr lang="en-ZW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GB" sz="2000" b="0" strike="noStrike" spc="-1"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11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ZW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B92BBAB-65D9-49BF-8312-C2763326EE23}" type="slidenum">
              <a:rPr lang="en-ZW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GB" sz="2000" b="0" strike="noStrike" spc="-1"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12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ZW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8197279-BD05-4B8C-91E7-B718ACA9C4B2}" type="slidenum">
              <a:rPr lang="en-ZW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GB" sz="2000" b="0" strike="noStrike" spc="-1"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13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ZW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2E21D96-9067-46C2-80E4-CC9B4EF985A3}" type="slidenum">
              <a:rPr lang="en-ZW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9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9EC3E-34F0-07A3-3F52-8E824A5ED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>
            <a:extLst>
              <a:ext uri="{FF2B5EF4-FFF2-40B4-BE49-F238E27FC236}">
                <a16:creationId xmlns:a16="http://schemas.microsoft.com/office/drawing/2014/main" id="{5D09F588-9D9F-14D9-6CC5-E68B22961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>
            <a:extLst>
              <a:ext uri="{FF2B5EF4-FFF2-40B4-BE49-F238E27FC236}">
                <a16:creationId xmlns:a16="http://schemas.microsoft.com/office/drawing/2014/main" id="{E1E651FB-3BC2-BFA5-2B29-90AE2F7849E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GB" sz="2000" b="0" strike="noStrike" spc="-1">
              <a:latin typeface="Arial"/>
            </a:endParaRPr>
          </a:p>
        </p:txBody>
      </p:sp>
      <p:sp>
        <p:nvSpPr>
          <p:cNvPr id="284" name="PlaceHolder 3">
            <a:extLst>
              <a:ext uri="{FF2B5EF4-FFF2-40B4-BE49-F238E27FC236}">
                <a16:creationId xmlns:a16="http://schemas.microsoft.com/office/drawing/2014/main" id="{277685C2-E441-74C5-F43C-F5984D6FC39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ZW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8197279-BD05-4B8C-91E7-B718ACA9C4B2}" type="slidenum">
              <a:rPr lang="en-ZW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20880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820BB-76AC-A333-F785-DC05803A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>
            <a:extLst>
              <a:ext uri="{FF2B5EF4-FFF2-40B4-BE49-F238E27FC236}">
                <a16:creationId xmlns:a16="http://schemas.microsoft.com/office/drawing/2014/main" id="{818F1E1D-3E2D-4EBF-0CD1-0615845B6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>
            <a:extLst>
              <a:ext uri="{FF2B5EF4-FFF2-40B4-BE49-F238E27FC236}">
                <a16:creationId xmlns:a16="http://schemas.microsoft.com/office/drawing/2014/main" id="{E2CC5C18-5C4A-9728-74A3-E3FE3BE9359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GB" sz="2000" b="0" strike="noStrike" spc="-1">
              <a:latin typeface="Arial"/>
            </a:endParaRPr>
          </a:p>
        </p:txBody>
      </p:sp>
      <p:sp>
        <p:nvSpPr>
          <p:cNvPr id="290" name="PlaceHolder 3">
            <a:extLst>
              <a:ext uri="{FF2B5EF4-FFF2-40B4-BE49-F238E27FC236}">
                <a16:creationId xmlns:a16="http://schemas.microsoft.com/office/drawing/2014/main" id="{7FD0439E-68F1-A557-AEB3-69DEB430E05E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ZW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EB597B7-6236-4A0E-A257-E14F1A38B9C0}" type="slidenum">
              <a:rPr lang="en-ZW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11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8004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DA2CA-75F8-E65E-37A2-A1F857DFE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>
            <a:extLst>
              <a:ext uri="{FF2B5EF4-FFF2-40B4-BE49-F238E27FC236}">
                <a16:creationId xmlns:a16="http://schemas.microsoft.com/office/drawing/2014/main" id="{3A96081D-442C-0A8C-D09B-8DCCEF051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>
            <a:extLst>
              <a:ext uri="{FF2B5EF4-FFF2-40B4-BE49-F238E27FC236}">
                <a16:creationId xmlns:a16="http://schemas.microsoft.com/office/drawing/2014/main" id="{37AC420E-6A29-A3F9-ABB4-04FF62E19A5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GB" sz="2000" b="0" strike="noStrike" spc="-1">
              <a:latin typeface="Arial"/>
            </a:endParaRPr>
          </a:p>
        </p:txBody>
      </p:sp>
      <p:sp>
        <p:nvSpPr>
          <p:cNvPr id="302" name="PlaceHolder 3">
            <a:extLst>
              <a:ext uri="{FF2B5EF4-FFF2-40B4-BE49-F238E27FC236}">
                <a16:creationId xmlns:a16="http://schemas.microsoft.com/office/drawing/2014/main" id="{0ECA64C5-E183-CAB2-5B8C-E6981331F0D9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ZW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E825654-8E23-430E-9D12-896BEA3A5FF4}" type="slidenum">
              <a:rPr lang="en-ZW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8878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A440-953D-E536-8C2C-66B25D75D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>
            <a:extLst>
              <a:ext uri="{FF2B5EF4-FFF2-40B4-BE49-F238E27FC236}">
                <a16:creationId xmlns:a16="http://schemas.microsoft.com/office/drawing/2014/main" id="{7230BCB8-3101-DCC5-8545-A91DCA23C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>
            <a:extLst>
              <a:ext uri="{FF2B5EF4-FFF2-40B4-BE49-F238E27FC236}">
                <a16:creationId xmlns:a16="http://schemas.microsoft.com/office/drawing/2014/main" id="{D565D3AB-9871-3DEE-C1A1-60887A78769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GB" sz="2000" b="0" strike="noStrike" spc="-1">
              <a:latin typeface="Arial"/>
            </a:endParaRPr>
          </a:p>
        </p:txBody>
      </p:sp>
      <p:sp>
        <p:nvSpPr>
          <p:cNvPr id="302" name="PlaceHolder 3">
            <a:extLst>
              <a:ext uri="{FF2B5EF4-FFF2-40B4-BE49-F238E27FC236}">
                <a16:creationId xmlns:a16="http://schemas.microsoft.com/office/drawing/2014/main" id="{B794BAE7-03A9-6485-4D3C-3BAD6BABD0E2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ZW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E825654-8E23-430E-9D12-896BEA3A5FF4}" type="slidenum">
              <a:rPr lang="en-ZW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14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4850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6559B23-A4C9-4D82-87FA-E98CE01EB3F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0239260-5047-466E-BADF-F8B42C80A92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A32E234-7AA3-4A6E-B4BD-EED27D23991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AAE5B23-7B71-4F3F-830E-EB435CD0241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06BE518-EAC8-4526-A25E-0D38F61A212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40280" y="614160"/>
            <a:ext cx="11310840" cy="551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28A8CD8-9F4A-4074-9DC5-FFBBC6C981E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50F8233-06A6-4B4F-BAFC-20DFF09AD40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2F7BAE9-7539-4AD1-B279-A715B8CD566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922DA4E-6F6D-4E7B-8A60-B38623BEE03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431B211-F991-445C-BA67-96C1749E641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BF157FF-3BEE-42B7-8A8F-134996757F04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7658DF-87BD-44BE-A4B1-D521D4491D1F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FD4FC9B-764A-4C6B-B482-A1DF79F313C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40544FC-45CF-4EFD-A579-88EFCDB35EA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E05F046-95D2-4926-866A-E67D7DD9145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4F148CC-AD1F-4D51-95BF-69F8F1534FF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264B567-7F71-4C8E-AE98-7A7E6C0DC42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440280" y="614160"/>
            <a:ext cx="11310840" cy="551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C701E0B-EEAA-49D1-9535-E022AF0BDE9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84A8D1E-405F-478D-9FBB-3854E3100CF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6F438E6-074F-4A6C-9200-8C2519C4015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73EB440-429D-4E24-96C2-BD0B804928E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9917B88-1478-4E17-8C01-868B97C9E54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8A2A7DC-254C-4797-AFC3-BC9ED4C22F47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3DD37E0-864D-4930-A861-3113EE9667CF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g object 16"/>
          <p:cNvSpPr/>
          <p:nvPr/>
        </p:nvSpPr>
        <p:spPr>
          <a:xfrm>
            <a:off x="446400" y="457200"/>
            <a:ext cx="3702960" cy="94320"/>
          </a:xfrm>
          <a:custGeom>
            <a:avLst/>
            <a:gdLst/>
            <a:ahLst/>
            <a:cxnLst/>
            <a:rect l="l" t="t" r="r" b="b"/>
            <a:pathLst>
              <a:path w="3703320" h="94615">
                <a:moveTo>
                  <a:pt x="3703320" y="0"/>
                </a:moveTo>
                <a:lnTo>
                  <a:pt x="0" y="0"/>
                </a:lnTo>
                <a:lnTo>
                  <a:pt x="0" y="94487"/>
                </a:lnTo>
                <a:lnTo>
                  <a:pt x="3703320" y="94487"/>
                </a:lnTo>
                <a:lnTo>
                  <a:pt x="3703320" y="0"/>
                </a:lnTo>
                <a:close/>
              </a:path>
            </a:pathLst>
          </a:custGeom>
          <a:solidFill>
            <a:srgbClr val="0E6EC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bg object 17"/>
          <p:cNvSpPr/>
          <p:nvPr/>
        </p:nvSpPr>
        <p:spPr>
          <a:xfrm>
            <a:off x="8042040" y="454320"/>
            <a:ext cx="3702960" cy="97560"/>
          </a:xfrm>
          <a:custGeom>
            <a:avLst/>
            <a:gdLst/>
            <a:ahLst/>
            <a:cxnLst/>
            <a:rect l="l" t="t" r="r" b="b"/>
            <a:pathLst>
              <a:path w="3703320" h="97790">
                <a:moveTo>
                  <a:pt x="3703320" y="0"/>
                </a:moveTo>
                <a:lnTo>
                  <a:pt x="0" y="0"/>
                </a:lnTo>
                <a:lnTo>
                  <a:pt x="0" y="97536"/>
                </a:lnTo>
                <a:lnTo>
                  <a:pt x="3703320" y="97536"/>
                </a:lnTo>
                <a:lnTo>
                  <a:pt x="3703320" y="0"/>
                </a:lnTo>
                <a:close/>
              </a:path>
            </a:pathLst>
          </a:custGeom>
          <a:solidFill>
            <a:srgbClr val="0FCF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bg object 18"/>
          <p:cNvSpPr/>
          <p:nvPr/>
        </p:nvSpPr>
        <p:spPr>
          <a:xfrm>
            <a:off x="4241160" y="457200"/>
            <a:ext cx="3702960" cy="91080"/>
          </a:xfrm>
          <a:custGeom>
            <a:avLst/>
            <a:gdLst/>
            <a:ahLst/>
            <a:cxnLst/>
            <a:rect l="l" t="t" r="r" b="b"/>
            <a:pathLst>
              <a:path w="3703320" h="91440">
                <a:moveTo>
                  <a:pt x="3703319" y="0"/>
                </a:moveTo>
                <a:lnTo>
                  <a:pt x="0" y="0"/>
                </a:lnTo>
                <a:lnTo>
                  <a:pt x="0" y="91439"/>
                </a:lnTo>
                <a:lnTo>
                  <a:pt x="3703319" y="91439"/>
                </a:lnTo>
                <a:lnTo>
                  <a:pt x="3703319" y="0"/>
                </a:lnTo>
                <a:close/>
              </a:path>
            </a:pathLst>
          </a:custGeom>
          <a:solidFill>
            <a:srgbClr val="009D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n-GB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GB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en-US" sz="1800" b="0" strike="noStrike" spc="-1">
                <a:solidFill>
                  <a:srgbClr val="B2B2B2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B2B2B2"/>
                </a:solidFill>
                <a:latin typeface="Calibri"/>
              </a:rPr>
              <a:t>&lt;date/time&gt;</a:t>
            </a:r>
            <a:endParaRPr lang="en-GB" sz="1800" b="0" strike="noStrike" spc="-1"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800" b="0" strike="noStrike" spc="-1">
                <a:solidFill>
                  <a:srgbClr val="B2B2B2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2006325-8CA8-41E2-B472-B45EAAAC3631}" type="slidenum">
              <a:rPr lang="en-US" sz="1800" b="0" strike="noStrike" spc="-1">
                <a:solidFill>
                  <a:srgbClr val="B2B2B2"/>
                </a:solidFill>
                <a:latin typeface="Calibri"/>
              </a:rPr>
              <a:t>‹#›</a:t>
            </a:fld>
            <a:endParaRPr lang="en-GB" sz="1800" b="0" strike="noStrike" spc="-1"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g object 16"/>
          <p:cNvSpPr/>
          <p:nvPr/>
        </p:nvSpPr>
        <p:spPr>
          <a:xfrm>
            <a:off x="446400" y="457200"/>
            <a:ext cx="3702960" cy="94320"/>
          </a:xfrm>
          <a:custGeom>
            <a:avLst/>
            <a:gdLst/>
            <a:ahLst/>
            <a:cxnLst/>
            <a:rect l="l" t="t" r="r" b="b"/>
            <a:pathLst>
              <a:path w="3703320" h="94615">
                <a:moveTo>
                  <a:pt x="3703320" y="0"/>
                </a:moveTo>
                <a:lnTo>
                  <a:pt x="0" y="0"/>
                </a:lnTo>
                <a:lnTo>
                  <a:pt x="0" y="94487"/>
                </a:lnTo>
                <a:lnTo>
                  <a:pt x="3703320" y="94487"/>
                </a:lnTo>
                <a:lnTo>
                  <a:pt x="3703320" y="0"/>
                </a:lnTo>
                <a:close/>
              </a:path>
            </a:pathLst>
          </a:custGeom>
          <a:solidFill>
            <a:srgbClr val="0E6EC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bg object 17"/>
          <p:cNvSpPr/>
          <p:nvPr/>
        </p:nvSpPr>
        <p:spPr>
          <a:xfrm>
            <a:off x="8042040" y="454320"/>
            <a:ext cx="3702960" cy="97560"/>
          </a:xfrm>
          <a:custGeom>
            <a:avLst/>
            <a:gdLst/>
            <a:ahLst/>
            <a:cxnLst/>
            <a:rect l="l" t="t" r="r" b="b"/>
            <a:pathLst>
              <a:path w="3703320" h="97790">
                <a:moveTo>
                  <a:pt x="3703320" y="0"/>
                </a:moveTo>
                <a:lnTo>
                  <a:pt x="0" y="0"/>
                </a:lnTo>
                <a:lnTo>
                  <a:pt x="0" y="97536"/>
                </a:lnTo>
                <a:lnTo>
                  <a:pt x="3703320" y="97536"/>
                </a:lnTo>
                <a:lnTo>
                  <a:pt x="3703320" y="0"/>
                </a:lnTo>
                <a:close/>
              </a:path>
            </a:pathLst>
          </a:custGeom>
          <a:solidFill>
            <a:srgbClr val="0FCF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bg object 18"/>
          <p:cNvSpPr/>
          <p:nvPr/>
        </p:nvSpPr>
        <p:spPr>
          <a:xfrm>
            <a:off x="4241160" y="457200"/>
            <a:ext cx="3702960" cy="91080"/>
          </a:xfrm>
          <a:custGeom>
            <a:avLst/>
            <a:gdLst/>
            <a:ahLst/>
            <a:cxnLst/>
            <a:rect l="l" t="t" r="r" b="b"/>
            <a:pathLst>
              <a:path w="3703320" h="91440">
                <a:moveTo>
                  <a:pt x="3703319" y="0"/>
                </a:moveTo>
                <a:lnTo>
                  <a:pt x="0" y="0"/>
                </a:lnTo>
                <a:lnTo>
                  <a:pt x="0" y="91439"/>
                </a:lnTo>
                <a:lnTo>
                  <a:pt x="3703319" y="91439"/>
                </a:lnTo>
                <a:lnTo>
                  <a:pt x="3703319" y="0"/>
                </a:lnTo>
                <a:close/>
              </a:path>
            </a:pathLst>
          </a:custGeom>
          <a:solidFill>
            <a:srgbClr val="009D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10840" cy="11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59880" y="1915920"/>
            <a:ext cx="10871640" cy="414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ftr" idx="4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n-GB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GB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en-US" sz="1800" b="0" strike="noStrike" spc="-1">
                <a:solidFill>
                  <a:srgbClr val="B2B2B2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B2B2B2"/>
                </a:solidFill>
                <a:latin typeface="Calibri"/>
              </a:rPr>
              <a:t>&lt;date/time&gt;</a:t>
            </a:r>
            <a:endParaRPr lang="en-GB" sz="1800" b="0" strike="noStrike" spc="-1"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6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800" b="0" strike="noStrike" spc="-1">
                <a:solidFill>
                  <a:srgbClr val="B2B2B2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C8CCA4E-6AAF-49C9-BE3B-0993DBF2A25C}" type="slidenum">
              <a:rPr lang="en-US" sz="1800" b="0" strike="noStrike" spc="-1">
                <a:solidFill>
                  <a:srgbClr val="B2B2B2"/>
                </a:solidFill>
                <a:latin typeface="Calibri"/>
              </a:rPr>
              <a:t>‹#›</a:t>
            </a:fld>
            <a:endParaRPr lang="en-GB" sz="18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bject 2"/>
          <p:cNvSpPr/>
          <p:nvPr/>
        </p:nvSpPr>
        <p:spPr>
          <a:xfrm>
            <a:off x="476280" y="4430160"/>
            <a:ext cx="11261880" cy="1956960"/>
          </a:xfrm>
          <a:custGeom>
            <a:avLst/>
            <a:gdLst/>
            <a:ahLst/>
            <a:cxnLst/>
            <a:rect l="l" t="t" r="r" b="b"/>
            <a:pathLst>
              <a:path w="11262360" h="3304540">
                <a:moveTo>
                  <a:pt x="11262360" y="0"/>
                </a:moveTo>
                <a:lnTo>
                  <a:pt x="0" y="0"/>
                </a:lnTo>
                <a:lnTo>
                  <a:pt x="0" y="3304031"/>
                </a:lnTo>
                <a:lnTo>
                  <a:pt x="11262360" y="3304031"/>
                </a:lnTo>
                <a:lnTo>
                  <a:pt x="11262360" y="0"/>
                </a:lnTo>
                <a:close/>
              </a:path>
            </a:pathLst>
          </a:custGeom>
          <a:solidFill>
            <a:srgbClr val="0E6EC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5" name="Rectangle 3"/>
          <p:cNvSpPr/>
          <p:nvPr/>
        </p:nvSpPr>
        <p:spPr>
          <a:xfrm>
            <a:off x="7868598" y="4679816"/>
            <a:ext cx="3340800" cy="9475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12240" algn="ctr">
              <a:lnSpc>
                <a:spcPct val="100000"/>
              </a:lnSpc>
              <a:spcBef>
                <a:spcPts val="99"/>
              </a:spcBef>
              <a:buNone/>
              <a:tabLst>
                <a:tab pos="318600" algn="l"/>
                <a:tab pos="319320" algn="l"/>
              </a:tabLst>
            </a:pPr>
            <a:r>
              <a:rPr lang="en-US" sz="1800" b="0" u="sng" strike="noStrike" spc="-7" dirty="0" err="1">
                <a:solidFill>
                  <a:srgbClr val="FFFFFF"/>
                </a:solidFill>
                <a:uFillTx/>
                <a:latin typeface="Times New Roman"/>
              </a:rPr>
              <a:t>Sinh</a:t>
            </a:r>
            <a:r>
              <a:rPr lang="en-US" sz="1800" b="0" u="sng" strike="noStrike" spc="-7" dirty="0">
                <a:solidFill>
                  <a:srgbClr val="FFFFFF"/>
                </a:solidFill>
                <a:uFillTx/>
                <a:latin typeface="Times New Roman"/>
              </a:rPr>
              <a:t> </a:t>
            </a:r>
            <a:r>
              <a:rPr lang="en-US" sz="1800" b="0" u="sng" strike="noStrike" spc="-7" dirty="0" err="1">
                <a:solidFill>
                  <a:srgbClr val="FFFFFF"/>
                </a:solidFill>
                <a:uFillTx/>
                <a:latin typeface="Times New Roman"/>
              </a:rPr>
              <a:t>viên</a:t>
            </a:r>
            <a:r>
              <a:rPr lang="en-US" sz="1800" b="0" u="sng" strike="noStrike" spc="-7" dirty="0">
                <a:solidFill>
                  <a:srgbClr val="FFFFFF"/>
                </a:solidFill>
                <a:uFillTx/>
                <a:latin typeface="Times New Roman"/>
              </a:rPr>
              <a:t> </a:t>
            </a:r>
            <a:r>
              <a:rPr lang="en-US" sz="1800" b="0" u="sng" strike="noStrike" spc="-7" dirty="0" err="1">
                <a:solidFill>
                  <a:srgbClr val="FFFFFF"/>
                </a:solidFill>
                <a:uFillTx/>
                <a:latin typeface="Times New Roman"/>
              </a:rPr>
              <a:t>thực</a:t>
            </a:r>
            <a:r>
              <a:rPr lang="en-US" sz="1800" b="0" u="sng" strike="noStrike" spc="-7" dirty="0">
                <a:solidFill>
                  <a:srgbClr val="FFFFFF"/>
                </a:solidFill>
                <a:uFillTx/>
                <a:latin typeface="Times New Roman"/>
              </a:rPr>
              <a:t> </a:t>
            </a:r>
            <a:r>
              <a:rPr lang="en-US" sz="1800" b="0" u="sng" strike="noStrike" spc="-7" dirty="0" err="1">
                <a:solidFill>
                  <a:srgbClr val="FFFFFF"/>
                </a:solidFill>
                <a:uFillTx/>
                <a:latin typeface="Times New Roman"/>
              </a:rPr>
              <a:t>hiện</a:t>
            </a:r>
            <a:endParaRPr lang="en-GB" sz="1800" b="0" strike="noStrike" spc="-1" dirty="0">
              <a:latin typeface="Arial"/>
            </a:endParaRPr>
          </a:p>
          <a:p>
            <a:pPr marL="12240" algn="ctr">
              <a:lnSpc>
                <a:spcPct val="100000"/>
              </a:lnSpc>
              <a:spcBef>
                <a:spcPts val="99"/>
              </a:spcBef>
              <a:buNone/>
              <a:tabLst>
                <a:tab pos="318600" algn="l"/>
                <a:tab pos="319320" algn="l"/>
              </a:tabLst>
            </a:pPr>
            <a:r>
              <a:rPr lang="en-US" sz="1800" b="1" strike="noStrike" spc="-7" dirty="0">
                <a:solidFill>
                  <a:srgbClr val="FFFFFF"/>
                </a:solidFill>
                <a:latin typeface="Times New Roman"/>
              </a:rPr>
              <a:t>Đỗ Nguyễn Minh Sang</a:t>
            </a:r>
            <a:endParaRPr lang="en-GB" sz="1800" b="0" strike="noStrike" spc="-1" dirty="0">
              <a:latin typeface="Arial"/>
            </a:endParaRPr>
          </a:p>
          <a:p>
            <a:pPr marL="12240" algn="ctr">
              <a:lnSpc>
                <a:spcPct val="100000"/>
              </a:lnSpc>
              <a:spcBef>
                <a:spcPts val="99"/>
              </a:spcBef>
              <a:buNone/>
              <a:tabLst>
                <a:tab pos="318600" algn="l"/>
                <a:tab pos="319320" algn="l"/>
              </a:tabLst>
            </a:pPr>
            <a:r>
              <a:rPr lang="en-US" sz="1800" b="1" strike="noStrike" spc="-7" dirty="0">
                <a:solidFill>
                  <a:srgbClr val="FFFFFF"/>
                </a:solidFill>
                <a:latin typeface="Times New Roman"/>
              </a:rPr>
              <a:t>MSSV: </a:t>
            </a:r>
            <a:r>
              <a:rPr lang="vi-VN" sz="1800" b="1" strike="noStrike" spc="-7" dirty="0">
                <a:solidFill>
                  <a:srgbClr val="FFFFFF"/>
                </a:solidFill>
                <a:latin typeface="Times New Roman"/>
              </a:rPr>
              <a:t>B2</a:t>
            </a:r>
            <a:r>
              <a:rPr lang="en-US" sz="1800" b="1" strike="noStrike" spc="-7" dirty="0">
                <a:solidFill>
                  <a:srgbClr val="FFFFFF"/>
                </a:solidFill>
                <a:latin typeface="Times New Roman"/>
              </a:rPr>
              <a:t>1100</a:t>
            </a:r>
            <a:r>
              <a:rPr lang="en-US" b="1" spc="-7" dirty="0">
                <a:solidFill>
                  <a:srgbClr val="FFFFFF"/>
                </a:solidFill>
                <a:latin typeface="Times New Roman"/>
              </a:rPr>
              <a:t>57</a:t>
            </a:r>
            <a:r>
              <a:rPr lang="en-US" sz="1800" b="1" strike="noStrike" spc="-7" dirty="0">
                <a:solidFill>
                  <a:srgbClr val="FFFFFF"/>
                </a:solidFill>
                <a:latin typeface="Times New Roman"/>
              </a:rPr>
              <a:t> Khóa 47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96" name="Rectangle 4"/>
          <p:cNvSpPr/>
          <p:nvPr/>
        </p:nvSpPr>
        <p:spPr>
          <a:xfrm>
            <a:off x="476280" y="5981400"/>
            <a:ext cx="1126188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12240" algn="ctr">
              <a:lnSpc>
                <a:spcPct val="100000"/>
              </a:lnSpc>
              <a:spcBef>
                <a:spcPts val="99"/>
              </a:spcBef>
              <a:buNone/>
              <a:tabLst>
                <a:tab pos="318600" algn="l"/>
                <a:tab pos="319320" algn="l"/>
              </a:tabLst>
            </a:pPr>
            <a:r>
              <a:rPr lang="en-US" sz="1800" b="0" strike="noStrike" spc="-7" dirty="0">
                <a:solidFill>
                  <a:srgbClr val="FFFFFF"/>
                </a:solidFill>
                <a:latin typeface="Times New Roman"/>
              </a:rPr>
              <a:t>Cần Thơ, </a:t>
            </a:r>
            <a:r>
              <a:rPr lang="en-US" spc="-7" dirty="0">
                <a:solidFill>
                  <a:srgbClr val="FFFFFF"/>
                </a:solidFill>
                <a:latin typeface="Times New Roman"/>
              </a:rPr>
              <a:t>08</a:t>
            </a:r>
            <a:r>
              <a:rPr lang="en-US" sz="1800" b="0" strike="noStrike" spc="-7" dirty="0">
                <a:solidFill>
                  <a:srgbClr val="FFFFFF"/>
                </a:solidFill>
                <a:latin typeface="Times New Roman"/>
              </a:rPr>
              <a:t>/2025</a:t>
            </a:r>
            <a:endParaRPr lang="en-GB" sz="1800" b="0" strike="noStrike" spc="-1" dirty="0">
              <a:latin typeface="Arial"/>
            </a:endParaRPr>
          </a:p>
        </p:txBody>
      </p:sp>
      <p:pic>
        <p:nvPicPr>
          <p:cNvPr id="97" name="Picture 5"/>
          <p:cNvPicPr/>
          <p:nvPr/>
        </p:nvPicPr>
        <p:blipFill>
          <a:blip r:embed="rId3"/>
          <a:stretch/>
        </p:blipFill>
        <p:spPr>
          <a:xfrm>
            <a:off x="9277619" y="750100"/>
            <a:ext cx="1086120" cy="1034640"/>
          </a:xfrm>
          <a:prstGeom prst="rect">
            <a:avLst/>
          </a:prstGeom>
          <a:ln w="0">
            <a:noFill/>
          </a:ln>
        </p:spPr>
      </p:pic>
      <p:sp>
        <p:nvSpPr>
          <p:cNvPr id="98" name="Rectangle 6"/>
          <p:cNvSpPr/>
          <p:nvPr/>
        </p:nvSpPr>
        <p:spPr>
          <a:xfrm>
            <a:off x="476280" y="1265040"/>
            <a:ext cx="888012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0" strike="noStrike" spc="-1" dirty="0">
                <a:solidFill>
                  <a:srgbClr val="009DD9"/>
                </a:solidFill>
                <a:latin typeface="Times New Roman"/>
              </a:rPr>
              <a:t>WEBSITE TRUNG T</a:t>
            </a:r>
            <a:r>
              <a:rPr lang="en-US" sz="3600" spc="-1" dirty="0">
                <a:solidFill>
                  <a:srgbClr val="009DD9"/>
                </a:solidFill>
                <a:latin typeface="Times New Roman"/>
              </a:rPr>
              <a:t>ÂM TƯ VẤN  DU HỌC</a:t>
            </a:r>
            <a:endParaRPr lang="en-GB" sz="3600" b="0" strike="noStrike" spc="-1" dirty="0">
              <a:latin typeface="Arial"/>
            </a:endParaRPr>
          </a:p>
        </p:txBody>
      </p:sp>
      <p:sp>
        <p:nvSpPr>
          <p:cNvPr id="99" name="Rectangle 8"/>
          <p:cNvSpPr/>
          <p:nvPr/>
        </p:nvSpPr>
        <p:spPr>
          <a:xfrm>
            <a:off x="380879" y="839160"/>
            <a:ext cx="7699633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12240" algn="ctr">
              <a:lnSpc>
                <a:spcPct val="100000"/>
              </a:lnSpc>
              <a:spcBef>
                <a:spcPts val="99"/>
              </a:spcBef>
              <a:buNone/>
              <a:tabLst>
                <a:tab pos="318600" algn="l"/>
                <a:tab pos="319320" algn="l"/>
              </a:tabLst>
            </a:pPr>
            <a:r>
              <a:rPr lang="en-US" sz="1800" b="1" strike="noStrike" spc="-7" dirty="0">
                <a:solidFill>
                  <a:srgbClr val="F6A613"/>
                </a:solidFill>
                <a:latin typeface="Times New Roman"/>
              </a:rPr>
              <a:t>LUẬN VĂN TỐT NGHIỆP ĐẠI HỌC NGÀNH HỆ THỐNG THÔNG TIN</a:t>
            </a:r>
            <a:endParaRPr lang="en-GB" sz="1800" b="1" strike="noStrike" spc="-1" dirty="0">
              <a:latin typeface="Arial"/>
            </a:endParaRPr>
          </a:p>
        </p:txBody>
      </p:sp>
      <p:pic>
        <p:nvPicPr>
          <p:cNvPr id="100" name="Picture 2" descr="Không có mô tả ảnh."/>
          <p:cNvPicPr/>
          <p:nvPr/>
        </p:nvPicPr>
        <p:blipFill>
          <a:blip r:embed="rId4"/>
          <a:srcRect t="8301" b="9384"/>
          <a:stretch/>
        </p:blipFill>
        <p:spPr>
          <a:xfrm>
            <a:off x="10443240" y="731140"/>
            <a:ext cx="1294920" cy="1066320"/>
          </a:xfrm>
          <a:prstGeom prst="rect">
            <a:avLst/>
          </a:prstGeom>
          <a:ln w="0">
            <a:noFill/>
          </a:ln>
        </p:spPr>
      </p:pic>
      <p:sp>
        <p:nvSpPr>
          <p:cNvPr id="101" name="Rectangle 9"/>
          <p:cNvSpPr/>
          <p:nvPr/>
        </p:nvSpPr>
        <p:spPr>
          <a:xfrm>
            <a:off x="476280" y="4679816"/>
            <a:ext cx="3809520" cy="6577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12240" algn="ctr">
              <a:lnSpc>
                <a:spcPct val="100000"/>
              </a:lnSpc>
              <a:spcBef>
                <a:spcPts val="99"/>
              </a:spcBef>
              <a:buNone/>
              <a:tabLst>
                <a:tab pos="318600" algn="l"/>
                <a:tab pos="319320" algn="l"/>
              </a:tabLst>
            </a:pPr>
            <a:r>
              <a:rPr lang="en-US" sz="1800" b="0" u="sng" strike="noStrike" spc="-7" dirty="0">
                <a:solidFill>
                  <a:srgbClr val="FFFFFF"/>
                </a:solidFill>
                <a:uFillTx/>
                <a:latin typeface="Times New Roman"/>
              </a:rPr>
              <a:t>Giảng viên hướng dẫn</a:t>
            </a:r>
            <a:endParaRPr lang="en-GB" sz="1800" b="0" strike="noStrike" spc="-1" dirty="0">
              <a:latin typeface="Arial"/>
            </a:endParaRPr>
          </a:p>
          <a:p>
            <a:pPr marL="12240" algn="ctr">
              <a:lnSpc>
                <a:spcPct val="100000"/>
              </a:lnSpc>
              <a:spcBef>
                <a:spcPts val="99"/>
              </a:spcBef>
              <a:buNone/>
              <a:tabLst>
                <a:tab pos="318600" algn="l"/>
                <a:tab pos="319320" algn="l"/>
              </a:tabLst>
            </a:pPr>
            <a:r>
              <a:rPr lang="en-US" sz="1800" b="1" strike="noStrike" spc="-7" dirty="0">
                <a:solidFill>
                  <a:srgbClr val="FFFFFF"/>
                </a:solidFill>
                <a:latin typeface="Times New Roman"/>
              </a:rPr>
              <a:t>TS. </a:t>
            </a:r>
            <a:r>
              <a:rPr lang="en-US" b="1" spc="-7" dirty="0">
                <a:solidFill>
                  <a:srgbClr val="FFFFFF"/>
                </a:solidFill>
                <a:latin typeface="Times New Roman"/>
              </a:rPr>
              <a:t>Phạm Thị Ngọc </a:t>
            </a:r>
            <a:r>
              <a:rPr lang="en-US" b="1" spc="-7" dirty="0" err="1">
                <a:solidFill>
                  <a:srgbClr val="FFFFFF"/>
                </a:solidFill>
                <a:latin typeface="Times New Roman"/>
              </a:rPr>
              <a:t>Diễm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102" name="Rectangle 10"/>
          <p:cNvSpPr/>
          <p:nvPr/>
        </p:nvSpPr>
        <p:spPr>
          <a:xfrm>
            <a:off x="3059460" y="4679816"/>
            <a:ext cx="6095520" cy="9475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12240" algn="ctr">
              <a:lnSpc>
                <a:spcPct val="100000"/>
              </a:lnSpc>
              <a:spcBef>
                <a:spcPts val="99"/>
              </a:spcBef>
              <a:buNone/>
              <a:tabLst>
                <a:tab pos="318600" algn="l"/>
                <a:tab pos="319320" algn="l"/>
              </a:tabLst>
            </a:pPr>
            <a:r>
              <a:rPr lang="en-US" sz="1800" b="0" u="sng" strike="noStrike" spc="-7" dirty="0" err="1">
                <a:solidFill>
                  <a:srgbClr val="FFFFFF"/>
                </a:solidFill>
                <a:uFillTx/>
                <a:latin typeface="Times New Roman"/>
              </a:rPr>
              <a:t>Hội</a:t>
            </a:r>
            <a:r>
              <a:rPr lang="en-US" sz="1800" b="0" u="sng" strike="noStrike" spc="-7" dirty="0">
                <a:solidFill>
                  <a:srgbClr val="FFFFFF"/>
                </a:solidFill>
                <a:uFillTx/>
                <a:latin typeface="Times New Roman"/>
              </a:rPr>
              <a:t> </a:t>
            </a:r>
            <a:r>
              <a:rPr lang="en-US" sz="1800" b="0" u="sng" strike="noStrike" spc="-7" dirty="0" err="1">
                <a:solidFill>
                  <a:srgbClr val="FFFFFF"/>
                </a:solidFill>
                <a:uFillTx/>
                <a:latin typeface="Times New Roman"/>
              </a:rPr>
              <a:t>đồng</a:t>
            </a:r>
            <a:r>
              <a:rPr lang="en-US" sz="1800" b="0" u="sng" strike="noStrike" spc="-7" dirty="0">
                <a:solidFill>
                  <a:srgbClr val="FFFFFF"/>
                </a:solidFill>
                <a:uFillTx/>
                <a:latin typeface="Times New Roman"/>
              </a:rPr>
              <a:t> </a:t>
            </a:r>
            <a:r>
              <a:rPr lang="en-US" sz="1800" b="0" u="sng" strike="noStrike" spc="-7" dirty="0" err="1">
                <a:solidFill>
                  <a:srgbClr val="FFFFFF"/>
                </a:solidFill>
                <a:uFillTx/>
                <a:latin typeface="Times New Roman"/>
              </a:rPr>
              <a:t>phản</a:t>
            </a:r>
            <a:r>
              <a:rPr lang="en-US" sz="1800" b="0" u="sng" strike="noStrike" spc="-7" dirty="0">
                <a:solidFill>
                  <a:srgbClr val="FFFFFF"/>
                </a:solidFill>
                <a:uFillTx/>
                <a:latin typeface="Times New Roman"/>
              </a:rPr>
              <a:t> </a:t>
            </a:r>
            <a:r>
              <a:rPr lang="en-US" sz="1800" b="0" u="sng" strike="noStrike" spc="-7" dirty="0" err="1">
                <a:solidFill>
                  <a:srgbClr val="FFFFFF"/>
                </a:solidFill>
                <a:uFillTx/>
                <a:latin typeface="Times New Roman"/>
              </a:rPr>
              <a:t>biện</a:t>
            </a:r>
            <a:endParaRPr lang="en-GB" sz="1800" b="0" strike="noStrike" spc="-1" dirty="0">
              <a:latin typeface="Arial"/>
            </a:endParaRPr>
          </a:p>
          <a:p>
            <a:pPr marL="12240" algn="ctr">
              <a:lnSpc>
                <a:spcPct val="100000"/>
              </a:lnSpc>
              <a:spcBef>
                <a:spcPts val="99"/>
              </a:spcBef>
              <a:buNone/>
              <a:tabLst>
                <a:tab pos="318600" algn="l"/>
                <a:tab pos="319320" algn="l"/>
              </a:tabLst>
            </a:pPr>
            <a:r>
              <a:rPr lang="en-US" b="1" spc="-7" dirty="0">
                <a:solidFill>
                  <a:srgbClr val="FFFFFF"/>
                </a:solidFill>
                <a:latin typeface="Times New Roman"/>
              </a:rPr>
              <a:t>TS. Trương Quốc Định</a:t>
            </a:r>
            <a:endParaRPr lang="en-GB" sz="1800" b="0" strike="noStrike" spc="-1" dirty="0">
              <a:latin typeface="Arial"/>
            </a:endParaRPr>
          </a:p>
          <a:p>
            <a:pPr marL="12240" algn="ctr">
              <a:lnSpc>
                <a:spcPct val="100000"/>
              </a:lnSpc>
              <a:spcBef>
                <a:spcPts val="99"/>
              </a:spcBef>
              <a:buNone/>
              <a:tabLst>
                <a:tab pos="318600" algn="l"/>
                <a:tab pos="319320" algn="l"/>
              </a:tabLst>
            </a:pPr>
            <a:r>
              <a:rPr lang="en-US" sz="1800" b="1" strike="noStrike" spc="-7" dirty="0" err="1">
                <a:solidFill>
                  <a:srgbClr val="FFFFFF"/>
                </a:solidFill>
                <a:latin typeface="Times New Roman"/>
              </a:rPr>
              <a:t>ThS</a:t>
            </a:r>
            <a:r>
              <a:rPr lang="en-US" sz="1800" b="1" strike="noStrike" spc="-7" dirty="0">
                <a:solidFill>
                  <a:srgbClr val="FFFFFF"/>
                </a:solidFill>
                <a:latin typeface="Times New Roman"/>
              </a:rPr>
              <a:t>. </a:t>
            </a:r>
            <a:r>
              <a:rPr lang="en-US" b="1" spc="-7" dirty="0">
                <a:solidFill>
                  <a:srgbClr val="FFFFFF"/>
                </a:solidFill>
                <a:latin typeface="Times New Roman"/>
              </a:rPr>
              <a:t>Mai Thị </a:t>
            </a:r>
            <a:r>
              <a:rPr lang="en-US" b="1" spc="-7" dirty="0" err="1">
                <a:solidFill>
                  <a:srgbClr val="FFFFFF"/>
                </a:solidFill>
                <a:latin typeface="Times New Roman"/>
              </a:rPr>
              <a:t>Cẩm</a:t>
            </a:r>
            <a:r>
              <a:rPr lang="en-US" b="1" spc="-7" dirty="0">
                <a:solidFill>
                  <a:srgbClr val="FFFFFF"/>
                </a:solidFill>
                <a:latin typeface="Times New Roman"/>
              </a:rPr>
              <a:t> Nhung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103" name="Rectangle 11"/>
          <p:cNvSpPr/>
          <p:nvPr/>
        </p:nvSpPr>
        <p:spPr>
          <a:xfrm>
            <a:off x="1383120" y="20160"/>
            <a:ext cx="94485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12240" algn="ctr">
              <a:lnSpc>
                <a:spcPct val="100000"/>
              </a:lnSpc>
              <a:spcBef>
                <a:spcPts val="99"/>
              </a:spcBef>
              <a:buNone/>
              <a:tabLst>
                <a:tab pos="318600" algn="l"/>
                <a:tab pos="319320" algn="l"/>
              </a:tabLst>
            </a:pPr>
            <a:r>
              <a:rPr lang="en-US" sz="1800" b="0" strike="noStrike" spc="-7" dirty="0">
                <a:solidFill>
                  <a:srgbClr val="0E6EC5"/>
                </a:solidFill>
                <a:latin typeface="Times New Roman"/>
              </a:rPr>
              <a:t>TRƯỜNG CÔNG NGHỆ THÔNG TIN VÀ TRUYỀN THÔNG</a:t>
            </a:r>
            <a:endParaRPr lang="en-GB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609480"/>
            <a:ext cx="11277360" cy="1148400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txBody>
          <a:bodyPr lIns="0" tIns="324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26"/>
              </a:spcBef>
              <a:buNone/>
            </a:pP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  <a:p>
            <a:pPr marL="231840">
              <a:lnSpc>
                <a:spcPct val="100000"/>
              </a:lnSpc>
              <a:buNone/>
            </a:pPr>
            <a:r>
              <a:rPr lang="en-ZW" sz="2800" b="0" strike="noStrike" spc="-7">
                <a:solidFill>
                  <a:srgbClr val="FFFFFF"/>
                </a:solidFill>
                <a:latin typeface="Times New Roman"/>
              </a:rPr>
              <a:t>TỔNG QUAN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object 2"/>
          <p:cNvSpPr/>
          <p:nvPr/>
        </p:nvSpPr>
        <p:spPr>
          <a:xfrm>
            <a:off x="3129520" y="2847120"/>
            <a:ext cx="456840" cy="429480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24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26"/>
              </a:spcBef>
              <a:buNone/>
            </a:pPr>
            <a:r>
              <a:rPr lang="en-US" sz="2800" b="0" strike="noStrike" spc="-1">
                <a:solidFill>
                  <a:srgbClr val="FFFFFF"/>
                </a:solidFill>
                <a:latin typeface="Times New Roman"/>
              </a:rPr>
              <a:t>01</a:t>
            </a:r>
            <a:endParaRPr lang="en-GB" sz="2800" b="0" strike="noStrike" spc="-1">
              <a:latin typeface="Arial"/>
            </a:endParaRPr>
          </a:p>
        </p:txBody>
      </p:sp>
      <p:sp>
        <p:nvSpPr>
          <p:cNvPr id="106" name="object 2"/>
          <p:cNvSpPr/>
          <p:nvPr/>
        </p:nvSpPr>
        <p:spPr>
          <a:xfrm>
            <a:off x="3815320" y="2847120"/>
            <a:ext cx="6395480" cy="434159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324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26"/>
              </a:spcBef>
              <a:buNone/>
              <a:tabLst>
                <a:tab pos="318600" algn="l"/>
                <a:tab pos="319320" algn="l"/>
              </a:tabLst>
            </a:pPr>
            <a:r>
              <a:rPr lang="en-US" sz="2800" b="0" strike="noStrike" spc="-1" dirty="0">
                <a:solidFill>
                  <a:srgbClr val="FFFFFF"/>
                </a:solidFill>
                <a:latin typeface="Times New Roman"/>
              </a:rPr>
              <a:t>GIỚI THIỆU ĐỀ TÀI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07" name="object 2"/>
          <p:cNvSpPr/>
          <p:nvPr/>
        </p:nvSpPr>
        <p:spPr>
          <a:xfrm>
            <a:off x="3129520" y="3556320"/>
            <a:ext cx="456840" cy="429480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24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26"/>
              </a:spcBef>
              <a:buNone/>
            </a:pPr>
            <a:r>
              <a:rPr lang="en-US" sz="2800" b="0" strike="noStrike" spc="-1">
                <a:solidFill>
                  <a:srgbClr val="FFFFFF"/>
                </a:solidFill>
                <a:latin typeface="Times New Roman"/>
              </a:rPr>
              <a:t>02</a:t>
            </a:r>
            <a:endParaRPr lang="en-GB" sz="2800" b="0" strike="noStrike" spc="-1">
              <a:latin typeface="Arial"/>
            </a:endParaRPr>
          </a:p>
        </p:txBody>
      </p:sp>
      <p:sp>
        <p:nvSpPr>
          <p:cNvPr id="108" name="object 2"/>
          <p:cNvSpPr/>
          <p:nvPr/>
        </p:nvSpPr>
        <p:spPr>
          <a:xfrm>
            <a:off x="3815320" y="3556320"/>
            <a:ext cx="6395480" cy="434159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324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26"/>
              </a:spcBef>
              <a:buNone/>
              <a:tabLst>
                <a:tab pos="318600" algn="l"/>
                <a:tab pos="319320" algn="l"/>
              </a:tabLst>
            </a:pPr>
            <a:r>
              <a:rPr lang="en-US" sz="2800" b="0" strike="noStrike" spc="-1" dirty="0">
                <a:solidFill>
                  <a:srgbClr val="FFFFFF"/>
                </a:solidFill>
                <a:latin typeface="Times New Roman"/>
              </a:rPr>
              <a:t>NỘI DUNG THỰC HIỆN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11" name="object 2"/>
          <p:cNvSpPr/>
          <p:nvPr/>
        </p:nvSpPr>
        <p:spPr>
          <a:xfrm>
            <a:off x="3129520" y="4265520"/>
            <a:ext cx="456840" cy="434159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24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26"/>
              </a:spcBef>
              <a:buNone/>
            </a:pPr>
            <a:r>
              <a:rPr lang="vi-VN" sz="2800" b="0" strike="noStrike" spc="-1" dirty="0">
                <a:solidFill>
                  <a:srgbClr val="FFFFFF"/>
                </a:solidFill>
                <a:latin typeface="Times New Roman"/>
              </a:rPr>
              <a:t>03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12" name="object 2"/>
          <p:cNvSpPr/>
          <p:nvPr/>
        </p:nvSpPr>
        <p:spPr>
          <a:xfrm>
            <a:off x="3815320" y="4265520"/>
            <a:ext cx="6395480" cy="434159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324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26"/>
              </a:spcBef>
              <a:buNone/>
              <a:tabLst>
                <a:tab pos="318600" algn="l"/>
                <a:tab pos="319320" algn="l"/>
              </a:tabLst>
            </a:pPr>
            <a:r>
              <a:rPr lang="vi-VN" sz="2800" b="0" strike="noStrike" spc="-1" dirty="0">
                <a:solidFill>
                  <a:srgbClr val="FFFFFF"/>
                </a:solidFill>
                <a:latin typeface="Times New Roman"/>
              </a:rPr>
              <a:t>KẾT LUẬN - </a:t>
            </a:r>
            <a:r>
              <a:rPr lang="en-US" sz="2800" b="0" strike="noStrike" spc="-1" dirty="0">
                <a:solidFill>
                  <a:srgbClr val="FFFFFF"/>
                </a:solidFill>
                <a:latin typeface="Times New Roman"/>
              </a:rPr>
              <a:t>HƯỚNG PHÁT TRIỂN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13" name="object 2"/>
          <p:cNvSpPr/>
          <p:nvPr/>
        </p:nvSpPr>
        <p:spPr>
          <a:xfrm>
            <a:off x="3129520" y="4977960"/>
            <a:ext cx="456840" cy="434159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24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26"/>
              </a:spcBef>
              <a:buNone/>
            </a:pPr>
            <a:r>
              <a:rPr lang="vi-VN" sz="2800" b="0" strike="noStrike" spc="-1" dirty="0">
                <a:solidFill>
                  <a:srgbClr val="FFFFFF"/>
                </a:solidFill>
                <a:latin typeface="Times New Roman"/>
              </a:rPr>
              <a:t>04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14" name="object 2"/>
          <p:cNvSpPr/>
          <p:nvPr/>
        </p:nvSpPr>
        <p:spPr>
          <a:xfrm>
            <a:off x="3815320" y="4977960"/>
            <a:ext cx="6395480" cy="434159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324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26"/>
              </a:spcBef>
              <a:buNone/>
              <a:tabLst>
                <a:tab pos="318600" algn="l"/>
                <a:tab pos="319320" algn="l"/>
              </a:tabLst>
            </a:pPr>
            <a:r>
              <a:rPr lang="en-US" sz="2800" b="0" strike="noStrike" spc="-1">
                <a:solidFill>
                  <a:srgbClr val="FFFFFF"/>
                </a:solidFill>
                <a:latin typeface="Times New Roman"/>
              </a:rPr>
              <a:t>DEMO CHƯƠNG TRÌNH</a:t>
            </a:r>
            <a:endParaRPr lang="en-GB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object 2"/>
          <p:cNvSpPr/>
          <p:nvPr/>
        </p:nvSpPr>
        <p:spPr>
          <a:xfrm>
            <a:off x="448200" y="5141880"/>
            <a:ext cx="11291040" cy="1258920"/>
          </a:xfrm>
          <a:custGeom>
            <a:avLst/>
            <a:gdLst/>
            <a:ahLst/>
            <a:cxnLst/>
            <a:rect l="l" t="t" r="r" b="b"/>
            <a:pathLst>
              <a:path w="11291570" h="1259204">
                <a:moveTo>
                  <a:pt x="11291316" y="0"/>
                </a:moveTo>
                <a:lnTo>
                  <a:pt x="0" y="0"/>
                </a:lnTo>
                <a:lnTo>
                  <a:pt x="0" y="1258824"/>
                </a:lnTo>
                <a:lnTo>
                  <a:pt x="11291316" y="1258824"/>
                </a:lnTo>
                <a:lnTo>
                  <a:pt x="11291316" y="0"/>
                </a:lnTo>
                <a:close/>
              </a:path>
            </a:pathLst>
          </a:custGeom>
          <a:solidFill>
            <a:srgbClr val="0E6EC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33520" y="4343400"/>
            <a:ext cx="7493040" cy="1157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600" b="0" strike="noStrike" spc="-7">
                <a:solidFill>
                  <a:srgbClr val="0E6EC5"/>
                </a:solidFill>
                <a:latin typeface="Times New Roman"/>
              </a:rPr>
              <a:t>1. GIỚI THIỆU ĐỀ TÀI</a:t>
            </a:r>
            <a:endParaRPr lang="en-US" sz="36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09760" cy="1148400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txBody>
          <a:bodyPr lIns="0" tIns="324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26"/>
              </a:spcBef>
              <a:buNone/>
            </a:pPr>
            <a:endParaRPr lang="en-US" sz="4200" b="0" strike="noStrike" spc="-1" dirty="0">
              <a:solidFill>
                <a:srgbClr val="000000"/>
              </a:solidFill>
              <a:latin typeface="Calibri"/>
            </a:endParaRPr>
          </a:p>
          <a:p>
            <a:pPr marL="231840">
              <a:lnSpc>
                <a:spcPct val="100000"/>
              </a:lnSpc>
              <a:buNone/>
            </a:pPr>
            <a:r>
              <a:rPr lang="en-US" sz="2800" b="0" strike="noStrike" spc="-7" dirty="0">
                <a:solidFill>
                  <a:srgbClr val="FFFFFF"/>
                </a:solidFill>
                <a:latin typeface="Times New Roman"/>
              </a:rPr>
              <a:t>1.1 ĐẶT VẤN ĐỀ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Rectangle 3"/>
          <p:cNvSpPr/>
          <p:nvPr/>
        </p:nvSpPr>
        <p:spPr>
          <a:xfrm>
            <a:off x="9607320" y="100800"/>
            <a:ext cx="184715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7" dirty="0">
                <a:solidFill>
                  <a:srgbClr val="0E6EC5"/>
                </a:solidFill>
                <a:latin typeface="Calibri"/>
              </a:rPr>
              <a:t>1.Giới </a:t>
            </a:r>
            <a:r>
              <a:rPr lang="vi-VN" spc="-7" dirty="0">
                <a:solidFill>
                  <a:srgbClr val="0E6EC5"/>
                </a:solidFill>
                <a:latin typeface="Calibri"/>
              </a:rPr>
              <a:t>thiệu</a:t>
            </a:r>
            <a:r>
              <a:rPr lang="en-US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đề</a:t>
            </a:r>
            <a:r>
              <a:rPr lang="en-US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tài</a:t>
            </a:r>
            <a:endParaRPr lang="en-GB" spc="-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852927-9DBF-D269-FE6B-6C0D22E4F9B4}"/>
              </a:ext>
            </a:extLst>
          </p:cNvPr>
          <p:cNvSpPr txBox="1"/>
          <p:nvPr/>
        </p:nvSpPr>
        <p:spPr>
          <a:xfrm>
            <a:off x="5252749" y="2388615"/>
            <a:ext cx="6497291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Để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đáp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ứng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nhu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cầu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tìm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hiểu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thông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tin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về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chương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trình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du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học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Xu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hướng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sử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dụng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công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nghệ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trong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nền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giáo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dục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hiện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đại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.</a:t>
            </a:r>
            <a:endParaRPr lang="vi-VN" sz="2400" dirty="0">
              <a:solidFill>
                <a:schemeClr val="tx2">
                  <a:lumMod val="5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Tiết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kiệm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thời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gian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và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mang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lại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lợi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ích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cho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các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trung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tâm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vừa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và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nhỏ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.</a:t>
            </a:r>
            <a:endParaRPr lang="vi-VN" sz="24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466E82-D0AB-9D65-FC8E-FCB572C5C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80" y="1999699"/>
            <a:ext cx="4420969" cy="23085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66F13D-8D2B-7262-6C97-39F3EC82D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80" y="4308295"/>
            <a:ext cx="4420969" cy="19355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09760" cy="1148400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txBody>
          <a:bodyPr lIns="0" tIns="324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26"/>
              </a:spcBef>
              <a:buNone/>
            </a:pPr>
            <a:endParaRPr lang="en-US" sz="4200" b="0" strike="noStrike" spc="-1" dirty="0">
              <a:solidFill>
                <a:srgbClr val="000000"/>
              </a:solidFill>
              <a:latin typeface="Calibri"/>
            </a:endParaRPr>
          </a:p>
          <a:p>
            <a:pPr marL="231840">
              <a:lnSpc>
                <a:spcPct val="100000"/>
              </a:lnSpc>
              <a:buNone/>
            </a:pPr>
            <a:r>
              <a:rPr lang="en-US" sz="2800" b="0" strike="noStrike" spc="-7" dirty="0">
                <a:solidFill>
                  <a:srgbClr val="FFFFFF"/>
                </a:solidFill>
                <a:latin typeface="Times New Roman"/>
              </a:rPr>
              <a:t>1.</a:t>
            </a:r>
            <a:r>
              <a:rPr lang="vi-VN" sz="2800" b="0" strike="noStrike" spc="-7" dirty="0">
                <a:solidFill>
                  <a:srgbClr val="FFFFFF"/>
                </a:solidFill>
                <a:latin typeface="Times New Roman"/>
              </a:rPr>
              <a:t>2 THỰC TRẠNG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Rectangle 3"/>
          <p:cNvSpPr/>
          <p:nvPr/>
        </p:nvSpPr>
        <p:spPr>
          <a:xfrm>
            <a:off x="9607320" y="99000"/>
            <a:ext cx="184715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7" dirty="0">
                <a:solidFill>
                  <a:srgbClr val="0E6EC5"/>
                </a:solidFill>
                <a:latin typeface="Calibri"/>
              </a:rPr>
              <a:t>1.Giới </a:t>
            </a:r>
            <a:r>
              <a:rPr lang="vi-VN" spc="-7" dirty="0">
                <a:solidFill>
                  <a:srgbClr val="0E6EC5"/>
                </a:solidFill>
                <a:latin typeface="Calibri"/>
              </a:rPr>
              <a:t>thiệu</a:t>
            </a:r>
            <a:r>
              <a:rPr lang="en-US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đề</a:t>
            </a:r>
            <a:r>
              <a:rPr lang="en-US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tài</a:t>
            </a:r>
            <a:endParaRPr lang="en-GB" spc="-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AD64CFB-8DC8-760E-C35C-9FF49842BA34}"/>
              </a:ext>
            </a:extLst>
          </p:cNvPr>
          <p:cNvGrpSpPr/>
          <p:nvPr/>
        </p:nvGrpSpPr>
        <p:grpSpPr>
          <a:xfrm>
            <a:off x="345440" y="1862960"/>
            <a:ext cx="7522124" cy="501710"/>
            <a:chOff x="345440" y="2066160"/>
            <a:chExt cx="7522124" cy="5017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C652B85-70B3-9A48-3B4B-4BCDA39C331A}"/>
                </a:ext>
              </a:extLst>
            </p:cNvPr>
            <p:cNvSpPr txBox="1"/>
            <p:nvPr/>
          </p:nvSpPr>
          <p:spPr>
            <a:xfrm>
              <a:off x="345440" y="2066160"/>
              <a:ext cx="75221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</a:rPr>
                <a:t>CÁC TRUNG TÂM TƯ VẤN DU HỌC TRỰC TUYẾN HIỆN NAY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CA94691-1565-DEF4-A311-B33DA2759ED7}"/>
                </a:ext>
              </a:extLst>
            </p:cNvPr>
            <p:cNvCxnSpPr>
              <a:cxnSpLocks/>
            </p:cNvCxnSpPr>
            <p:nvPr/>
          </p:nvCxnSpPr>
          <p:spPr>
            <a:xfrm>
              <a:off x="447040" y="2567870"/>
              <a:ext cx="423311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88DE3B7-219E-3E60-CA1B-A78790ADF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2466271"/>
            <a:ext cx="5331944" cy="39417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23281F-7A6F-727F-2808-CECE2FB19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040" y="2466271"/>
            <a:ext cx="5921608" cy="39417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6966C-5EF2-2D76-B6DF-4093FD417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>
            <a:extLst>
              <a:ext uri="{FF2B5EF4-FFF2-40B4-BE49-F238E27FC236}">
                <a16:creationId xmlns:a16="http://schemas.microsoft.com/office/drawing/2014/main" id="{BDD07C9A-57E6-2B62-85A7-DE6029AAE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80" y="614160"/>
            <a:ext cx="11309760" cy="1148400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txBody>
          <a:bodyPr lIns="0" tIns="324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26"/>
              </a:spcBef>
              <a:buNone/>
            </a:pPr>
            <a:endParaRPr lang="en-US" sz="4200" b="0" strike="noStrike" spc="-1" dirty="0">
              <a:solidFill>
                <a:srgbClr val="000000"/>
              </a:solidFill>
              <a:latin typeface="Calibri"/>
            </a:endParaRPr>
          </a:p>
          <a:p>
            <a:pPr marL="231840">
              <a:lnSpc>
                <a:spcPct val="100000"/>
              </a:lnSpc>
              <a:buNone/>
            </a:pPr>
            <a:r>
              <a:rPr lang="en-US" sz="2800" b="0" strike="noStrike" spc="-7" dirty="0">
                <a:solidFill>
                  <a:srgbClr val="FFFFFF"/>
                </a:solidFill>
                <a:latin typeface="Times New Roman"/>
              </a:rPr>
              <a:t>1.</a:t>
            </a:r>
            <a:r>
              <a:rPr lang="en-US" sz="2800" spc="-7" dirty="0">
                <a:solidFill>
                  <a:srgbClr val="FFFFFF"/>
                </a:solidFill>
                <a:latin typeface="Times New Roman"/>
              </a:rPr>
              <a:t>3</a:t>
            </a:r>
            <a:r>
              <a:rPr lang="en-US" sz="2800" b="0" strike="noStrike" spc="-7" dirty="0">
                <a:solidFill>
                  <a:srgbClr val="FFFFFF"/>
                </a:solidFill>
                <a:latin typeface="Times New Roman"/>
              </a:rPr>
              <a:t> MỤC TIÊU ĐỀ TÀI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Rectangle 3">
            <a:extLst>
              <a:ext uri="{FF2B5EF4-FFF2-40B4-BE49-F238E27FC236}">
                <a16:creationId xmlns:a16="http://schemas.microsoft.com/office/drawing/2014/main" id="{479A2C45-2458-75CB-6D3B-48B5DBF102FF}"/>
              </a:ext>
            </a:extLst>
          </p:cNvPr>
          <p:cNvSpPr/>
          <p:nvPr/>
        </p:nvSpPr>
        <p:spPr>
          <a:xfrm>
            <a:off x="9607320" y="99000"/>
            <a:ext cx="184715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7" dirty="0">
                <a:solidFill>
                  <a:srgbClr val="0E6EC5"/>
                </a:solidFill>
                <a:latin typeface="Calibri"/>
              </a:rPr>
              <a:t>1.</a:t>
            </a:r>
            <a:r>
              <a:rPr lang="en-US" spc="-7" dirty="0">
                <a:solidFill>
                  <a:srgbClr val="0E6EC5"/>
                </a:solidFill>
                <a:latin typeface="Calibri"/>
              </a:rPr>
              <a:t>Giới</a:t>
            </a:r>
            <a:r>
              <a:rPr lang="en-US" sz="1800" b="0" strike="noStrike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vi-VN" spc="-7" dirty="0">
                <a:solidFill>
                  <a:srgbClr val="0E6EC5"/>
                </a:solidFill>
                <a:latin typeface="Calibri"/>
              </a:rPr>
              <a:t>t</a:t>
            </a:r>
            <a:r>
              <a:rPr lang="vi-VN" sz="1800" b="0" strike="noStrike" spc="-7" dirty="0">
                <a:solidFill>
                  <a:srgbClr val="0E6EC5"/>
                </a:solidFill>
                <a:latin typeface="Calibri"/>
              </a:rPr>
              <a:t>hiệu</a:t>
            </a:r>
            <a:r>
              <a:rPr lang="en-US" sz="1800" b="0" strike="noStrike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đề</a:t>
            </a:r>
            <a:r>
              <a:rPr lang="en-US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tài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132" name="Rectangle 4">
            <a:extLst>
              <a:ext uri="{FF2B5EF4-FFF2-40B4-BE49-F238E27FC236}">
                <a16:creationId xmlns:a16="http://schemas.microsoft.com/office/drawing/2014/main" id="{E3DDB8CE-B0A6-2C60-826F-8DDBBFC0E17F}"/>
              </a:ext>
            </a:extLst>
          </p:cNvPr>
          <p:cNvSpPr/>
          <p:nvPr/>
        </p:nvSpPr>
        <p:spPr>
          <a:xfrm>
            <a:off x="443810" y="2673996"/>
            <a:ext cx="11646790" cy="25963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Xây</a:t>
            </a:r>
            <a:r>
              <a:rPr lang="en-US" sz="2800" dirty="0"/>
              <a:t> </a:t>
            </a:r>
            <a:r>
              <a:rPr lang="en-US" sz="2800" dirty="0" err="1"/>
              <a:t>dựng</a:t>
            </a:r>
            <a:r>
              <a:rPr lang="en-US" sz="2800" dirty="0"/>
              <a:t> website </a:t>
            </a:r>
            <a:r>
              <a:rPr lang="en-US" sz="2800" dirty="0" err="1"/>
              <a:t>trung</a:t>
            </a:r>
            <a:r>
              <a:rPr lang="en-US" sz="2800" dirty="0"/>
              <a:t> </a:t>
            </a:r>
            <a:r>
              <a:rPr lang="en-US" sz="2800" dirty="0" err="1"/>
              <a:t>tâm</a:t>
            </a:r>
            <a:r>
              <a:rPr lang="en-US" sz="2800" dirty="0"/>
              <a:t> </a:t>
            </a:r>
            <a:r>
              <a:rPr lang="en-US" sz="2800" dirty="0" err="1"/>
              <a:t>tư</a:t>
            </a:r>
            <a:r>
              <a:rPr lang="en-US" sz="2800" dirty="0"/>
              <a:t> </a:t>
            </a:r>
            <a:r>
              <a:rPr lang="en-US" sz="2800" dirty="0" err="1"/>
              <a:t>vấn</a:t>
            </a:r>
            <a:r>
              <a:rPr lang="en-US" sz="2800" dirty="0"/>
              <a:t> du </a:t>
            </a:r>
            <a:r>
              <a:rPr lang="en-US" sz="2800" dirty="0" err="1"/>
              <a:t>học</a:t>
            </a:r>
            <a:r>
              <a:rPr lang="en-US" sz="2800" dirty="0"/>
              <a:t> </a:t>
            </a:r>
            <a:r>
              <a:rPr lang="en-US" sz="2800" dirty="0" err="1"/>
              <a:t>thuận</a:t>
            </a:r>
            <a:r>
              <a:rPr lang="en-US" sz="2800" dirty="0"/>
              <a:t> </a:t>
            </a:r>
            <a:r>
              <a:rPr lang="en-US" sz="2800" dirty="0" err="1"/>
              <a:t>tiện</a:t>
            </a:r>
            <a:r>
              <a:rPr lang="en-US" sz="2800" dirty="0"/>
              <a:t> </a:t>
            </a:r>
            <a:r>
              <a:rPr lang="en-US" sz="2800" dirty="0" err="1"/>
              <a:t>cho</a:t>
            </a:r>
            <a:r>
              <a:rPr lang="en-US" sz="2800" dirty="0"/>
              <a:t> </a:t>
            </a:r>
            <a:r>
              <a:rPr lang="en-US" sz="2800" dirty="0" err="1"/>
              <a:t>việc</a:t>
            </a:r>
            <a:r>
              <a:rPr lang="en-US" sz="2800" dirty="0"/>
              <a:t> </a:t>
            </a:r>
            <a:r>
              <a:rPr lang="en-US" sz="2800" dirty="0" err="1"/>
              <a:t>quản</a:t>
            </a:r>
            <a:r>
              <a:rPr lang="en-US" sz="2800" dirty="0"/>
              <a:t> </a:t>
            </a:r>
            <a:r>
              <a:rPr lang="en-US" sz="2800" dirty="0" err="1"/>
              <a:t>lý</a:t>
            </a:r>
            <a:r>
              <a:rPr lang="en-US" sz="28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Phát </a:t>
            </a:r>
            <a:r>
              <a:rPr lang="en-US" sz="2800" dirty="0" err="1"/>
              <a:t>triển</a:t>
            </a:r>
            <a:r>
              <a:rPr lang="en-US" sz="2800" dirty="0"/>
              <a:t> RESTful API </a:t>
            </a:r>
            <a:r>
              <a:rPr lang="en-US" sz="2800" dirty="0" err="1"/>
              <a:t>linh</a:t>
            </a:r>
            <a:r>
              <a:rPr lang="en-US" sz="2800" dirty="0"/>
              <a:t> </a:t>
            </a:r>
            <a:r>
              <a:rPr lang="en-US" sz="2800" dirty="0" err="1"/>
              <a:t>hoạt</a:t>
            </a:r>
            <a:r>
              <a:rPr lang="en-US" sz="28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Thiết</a:t>
            </a:r>
            <a:r>
              <a:rPr lang="en-US" sz="2800" dirty="0"/>
              <a:t> </a:t>
            </a:r>
            <a:r>
              <a:rPr lang="en-US" sz="2800" dirty="0" err="1"/>
              <a:t>kế</a:t>
            </a:r>
            <a:r>
              <a:rPr lang="en-US" sz="2800" dirty="0"/>
              <a:t> </a:t>
            </a:r>
            <a:r>
              <a:rPr lang="en-US" sz="2800" dirty="0" err="1"/>
              <a:t>giao</a:t>
            </a:r>
            <a:r>
              <a:rPr lang="en-US" sz="2800" dirty="0"/>
              <a:t> </a:t>
            </a:r>
            <a:r>
              <a:rPr lang="en-US" sz="2800" dirty="0" err="1"/>
              <a:t>diện</a:t>
            </a:r>
            <a:r>
              <a:rPr lang="en-US" sz="2800" dirty="0"/>
              <a:t> </a:t>
            </a:r>
            <a:r>
              <a:rPr lang="en-US" sz="2800" dirty="0" err="1"/>
              <a:t>thân</a:t>
            </a:r>
            <a:r>
              <a:rPr lang="en-US" sz="2800" dirty="0"/>
              <a:t> </a:t>
            </a:r>
            <a:r>
              <a:rPr lang="en-US" sz="2800" dirty="0" err="1"/>
              <a:t>thiện</a:t>
            </a:r>
            <a:r>
              <a:rPr lang="en-US" sz="2800" dirty="0"/>
              <a:t>, </a:t>
            </a:r>
            <a:r>
              <a:rPr lang="en-US" sz="2800" dirty="0" err="1"/>
              <a:t>dễ</a:t>
            </a:r>
            <a:r>
              <a:rPr lang="en-US" sz="2800" dirty="0"/>
              <a:t> </a:t>
            </a:r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cho</a:t>
            </a:r>
            <a:r>
              <a:rPr lang="en-US" sz="2800" dirty="0"/>
              <a:t> </a:t>
            </a:r>
            <a:r>
              <a:rPr lang="en-US" sz="2800" dirty="0" err="1"/>
              <a:t>người</a:t>
            </a:r>
            <a:r>
              <a:rPr lang="en-US" sz="2800" dirty="0"/>
              <a:t> </a:t>
            </a:r>
            <a:r>
              <a:rPr lang="en-US" sz="2800" dirty="0" err="1"/>
              <a:t>mới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2115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09760" cy="1148400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txBody>
          <a:bodyPr lIns="0" tIns="324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26"/>
              </a:spcBef>
              <a:buNone/>
            </a:pPr>
            <a:endParaRPr lang="en-US" sz="4200" b="0" strike="noStrike" spc="-1" dirty="0">
              <a:solidFill>
                <a:srgbClr val="000000"/>
              </a:solidFill>
              <a:latin typeface="Calibri"/>
            </a:endParaRPr>
          </a:p>
          <a:p>
            <a:pPr marL="231840">
              <a:lnSpc>
                <a:spcPct val="100000"/>
              </a:lnSpc>
              <a:buNone/>
            </a:pPr>
            <a:r>
              <a:rPr lang="en-US" sz="2800" b="0" strike="noStrike" spc="-7" dirty="0">
                <a:solidFill>
                  <a:srgbClr val="FFFFFF"/>
                </a:solidFill>
                <a:latin typeface="Times New Roman"/>
              </a:rPr>
              <a:t>1.</a:t>
            </a:r>
            <a:r>
              <a:rPr lang="vi-VN" sz="2800" b="0" strike="noStrike" spc="-7" dirty="0">
                <a:solidFill>
                  <a:srgbClr val="FFFFFF"/>
                </a:solidFill>
                <a:latin typeface="Times New Roman"/>
              </a:rPr>
              <a:t>5</a:t>
            </a:r>
            <a:r>
              <a:rPr lang="en-US" sz="2800" b="0" strike="noStrike" spc="-7" dirty="0">
                <a:solidFill>
                  <a:srgbClr val="FFFFFF"/>
                </a:solidFill>
                <a:latin typeface="Times New Roman"/>
              </a:rPr>
              <a:t> ĐỐI TƯỢNG VÀ PHẠM VI NGHIÊN CỨU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object 3"/>
          <p:cNvSpPr/>
          <p:nvPr/>
        </p:nvSpPr>
        <p:spPr>
          <a:xfrm>
            <a:off x="440280" y="2177057"/>
            <a:ext cx="11499913" cy="16665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62000" rIns="0" bIns="0" anchor="t">
            <a:spAutoFit/>
          </a:bodyPr>
          <a:lstStyle/>
          <a:p>
            <a:pPr marL="318600" indent="-306720" algn="just">
              <a:lnSpc>
                <a:spcPct val="100000"/>
              </a:lnSpc>
              <a:spcBef>
                <a:spcPts val="1276"/>
              </a:spcBef>
              <a:buClr>
                <a:srgbClr val="009DD9"/>
              </a:buClr>
              <a:buSzPct val="92000"/>
              <a:buFont typeface="Cambria"/>
              <a:buChar char="◾"/>
              <a:tabLst>
                <a:tab pos="318600" algn="l"/>
                <a:tab pos="319320" algn="l"/>
              </a:tabLst>
            </a:pPr>
            <a:r>
              <a:rPr lang="en-US" sz="2800" b="1" strike="noStrike" spc="-12" dirty="0" err="1">
                <a:solidFill>
                  <a:schemeClr val="tx2">
                    <a:lumMod val="50000"/>
                  </a:schemeClr>
                </a:solidFill>
                <a:latin typeface="Arial MT"/>
              </a:rPr>
              <a:t>Đối</a:t>
            </a:r>
            <a:r>
              <a:rPr lang="en-US" sz="2800" b="1" strike="noStrike" spc="-12" dirty="0">
                <a:solidFill>
                  <a:schemeClr val="tx2">
                    <a:lumMod val="50000"/>
                  </a:schemeClr>
                </a:solidFill>
                <a:latin typeface="Arial MT"/>
              </a:rPr>
              <a:t> </a:t>
            </a:r>
            <a:r>
              <a:rPr lang="en-US" sz="2800" b="1" strike="noStrike" spc="-12" dirty="0" err="1">
                <a:solidFill>
                  <a:schemeClr val="tx2">
                    <a:lumMod val="50000"/>
                  </a:schemeClr>
                </a:solidFill>
                <a:latin typeface="Arial MT"/>
              </a:rPr>
              <a:t>tượng</a:t>
            </a:r>
            <a:r>
              <a:rPr lang="en-US" sz="2800" b="1" strike="noStrike" spc="-12" dirty="0">
                <a:solidFill>
                  <a:schemeClr val="tx2">
                    <a:lumMod val="50000"/>
                  </a:schemeClr>
                </a:solidFill>
                <a:latin typeface="Arial MT"/>
              </a:rPr>
              <a:t> </a:t>
            </a:r>
            <a:r>
              <a:rPr lang="en-US" sz="2800" b="1" strike="noStrike" spc="-12" dirty="0" err="1">
                <a:solidFill>
                  <a:schemeClr val="tx2">
                    <a:lumMod val="50000"/>
                  </a:schemeClr>
                </a:solidFill>
                <a:latin typeface="Arial MT"/>
              </a:rPr>
              <a:t>nghiên</a:t>
            </a:r>
            <a:r>
              <a:rPr lang="en-US" sz="2800" b="1" strike="noStrike" spc="-12" dirty="0">
                <a:solidFill>
                  <a:schemeClr val="tx2">
                    <a:lumMod val="50000"/>
                  </a:schemeClr>
                </a:solidFill>
                <a:latin typeface="Arial MT"/>
              </a:rPr>
              <a:t> </a:t>
            </a:r>
            <a:r>
              <a:rPr lang="en-US" sz="2800" b="1" strike="noStrike" spc="-12" dirty="0" err="1">
                <a:solidFill>
                  <a:schemeClr val="tx2">
                    <a:lumMod val="50000"/>
                  </a:schemeClr>
                </a:solidFill>
                <a:latin typeface="Arial MT"/>
              </a:rPr>
              <a:t>cứu</a:t>
            </a:r>
            <a:r>
              <a:rPr lang="en-US" sz="2800" b="1" strike="noStrike" spc="-12" dirty="0">
                <a:solidFill>
                  <a:schemeClr val="tx2">
                    <a:lumMod val="50000"/>
                  </a:schemeClr>
                </a:solidFill>
                <a:latin typeface="Arial MT"/>
              </a:rPr>
              <a:t>:</a:t>
            </a:r>
            <a:endParaRPr lang="en-GB" sz="2800" b="0" strike="noStrike" spc="-1" dirty="0">
              <a:solidFill>
                <a:schemeClr val="tx2">
                  <a:lumMod val="50000"/>
                </a:schemeClr>
              </a:solidFill>
              <a:latin typeface="Arial"/>
            </a:endParaRPr>
          </a:p>
          <a:p>
            <a:pPr marL="812160" lvl="1" indent="-343080" algn="just">
              <a:lnSpc>
                <a:spcPct val="100000"/>
              </a:lnSpc>
              <a:spcBef>
                <a:spcPts val="1276"/>
              </a:spcBef>
              <a:buClr>
                <a:srgbClr val="009DD9"/>
              </a:buClr>
              <a:buSzPct val="92000"/>
              <a:buFont typeface="Arial"/>
              <a:buChar char="•"/>
              <a:tabLst>
                <a:tab pos="318600" algn="l"/>
                <a:tab pos="319320" algn="l"/>
              </a:tabLst>
            </a:pPr>
            <a:r>
              <a:rPr lang="en-US" sz="2400" dirty="0"/>
              <a:t>Các </a:t>
            </a:r>
            <a:r>
              <a:rPr lang="en-US" sz="2400" dirty="0" err="1"/>
              <a:t>trung</a:t>
            </a:r>
            <a:r>
              <a:rPr lang="en-US" sz="2400" dirty="0"/>
              <a:t> </a:t>
            </a:r>
            <a:r>
              <a:rPr lang="en-US" sz="2400" dirty="0" err="1"/>
              <a:t>tâm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quy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vừa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nhỏ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lĩnh</a:t>
            </a:r>
            <a:r>
              <a:rPr lang="en-US" sz="2400" dirty="0"/>
              <a:t> </a:t>
            </a:r>
            <a:r>
              <a:rPr lang="en-US" sz="2400" dirty="0" err="1"/>
              <a:t>vực</a:t>
            </a:r>
            <a:r>
              <a:rPr lang="en-US" sz="2400" dirty="0"/>
              <a:t> </a:t>
            </a:r>
            <a:r>
              <a:rPr lang="en-US" sz="2400" dirty="0" err="1"/>
              <a:t>tư</a:t>
            </a:r>
            <a:r>
              <a:rPr lang="en-US" sz="2400" dirty="0"/>
              <a:t> </a:t>
            </a:r>
            <a:r>
              <a:rPr lang="en-US" sz="2400" dirty="0" err="1"/>
              <a:t>vấn</a:t>
            </a:r>
            <a:r>
              <a:rPr lang="en-US" sz="2400" dirty="0"/>
              <a:t> du </a:t>
            </a:r>
            <a:r>
              <a:rPr lang="en-US" sz="2400" dirty="0" err="1"/>
              <a:t>học</a:t>
            </a:r>
            <a:r>
              <a:rPr lang="en-US" sz="2400" dirty="0"/>
              <a:t>.</a:t>
            </a:r>
            <a:endParaRPr lang="en-GB" sz="2400" b="0" strike="noStrike" spc="-1" dirty="0">
              <a:solidFill>
                <a:schemeClr val="tx2">
                  <a:lumMod val="50000"/>
                </a:schemeClr>
              </a:solidFill>
              <a:latin typeface="Arial"/>
            </a:endParaRPr>
          </a:p>
          <a:p>
            <a:pPr marL="812160" lvl="1" indent="-343080" algn="just">
              <a:lnSpc>
                <a:spcPct val="100000"/>
              </a:lnSpc>
              <a:spcBef>
                <a:spcPts val="1276"/>
              </a:spcBef>
              <a:buClr>
                <a:srgbClr val="009DD9"/>
              </a:buClr>
              <a:buSzPct val="92000"/>
              <a:buFont typeface="Arial"/>
              <a:buChar char="•"/>
              <a:tabLst>
                <a:tab pos="318600" algn="l"/>
                <a:tab pos="319320" algn="l"/>
              </a:tabLst>
            </a:pP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ở </a:t>
            </a:r>
            <a:r>
              <a:rPr lang="en-US" sz="2400" dirty="0" err="1"/>
              <a:t>trung</a:t>
            </a:r>
            <a:r>
              <a:rPr lang="en-US" sz="2400" dirty="0"/>
              <a:t> </a:t>
            </a:r>
            <a:r>
              <a:rPr lang="en-US" sz="2400" dirty="0" err="1"/>
              <a:t>tâm</a:t>
            </a:r>
            <a:r>
              <a:rPr lang="en-US" sz="2400" dirty="0"/>
              <a:t> </a:t>
            </a:r>
            <a:r>
              <a:rPr lang="en-US" sz="2400" dirty="0" err="1"/>
              <a:t>tư</a:t>
            </a:r>
            <a:r>
              <a:rPr lang="en-US" sz="2400" dirty="0"/>
              <a:t> </a:t>
            </a:r>
            <a:r>
              <a:rPr lang="en-US" sz="2400" dirty="0" err="1"/>
              <a:t>vấn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r>
              <a:rPr lang="en-US" sz="2400" dirty="0"/>
              <a:t>.</a:t>
            </a:r>
            <a:endParaRPr lang="en-GB" sz="2400" b="0" strike="noStrike" spc="-1" dirty="0">
              <a:solidFill>
                <a:schemeClr val="tx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135" name="Rectangle 3"/>
          <p:cNvSpPr/>
          <p:nvPr/>
        </p:nvSpPr>
        <p:spPr>
          <a:xfrm>
            <a:off x="9607320" y="99000"/>
            <a:ext cx="184715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7" dirty="0">
                <a:solidFill>
                  <a:srgbClr val="0E6EC5"/>
                </a:solidFill>
                <a:latin typeface="Calibri"/>
              </a:rPr>
              <a:t>1.Giới </a:t>
            </a:r>
            <a:r>
              <a:rPr lang="vi-VN" spc="-7" dirty="0">
                <a:solidFill>
                  <a:srgbClr val="0E6EC5"/>
                </a:solidFill>
                <a:latin typeface="Calibri"/>
              </a:rPr>
              <a:t>thiệu</a:t>
            </a:r>
            <a:r>
              <a:rPr lang="en-US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đề</a:t>
            </a:r>
            <a:r>
              <a:rPr lang="en-US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tài</a:t>
            </a:r>
            <a:endParaRPr lang="en-GB" spc="-1" dirty="0"/>
          </a:p>
        </p:txBody>
      </p:sp>
      <p:sp>
        <p:nvSpPr>
          <p:cNvPr id="136" name="Rectangle 4"/>
          <p:cNvSpPr/>
          <p:nvPr/>
        </p:nvSpPr>
        <p:spPr>
          <a:xfrm>
            <a:off x="440280" y="4073446"/>
            <a:ext cx="11309759" cy="15938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18600" indent="-306720" algn="just">
              <a:lnSpc>
                <a:spcPct val="100000"/>
              </a:lnSpc>
              <a:spcBef>
                <a:spcPts val="1276"/>
              </a:spcBef>
              <a:buClr>
                <a:srgbClr val="009DD9"/>
              </a:buClr>
              <a:buSzPct val="92000"/>
              <a:buFont typeface="Cambria"/>
              <a:buChar char="◾"/>
              <a:tabLst>
                <a:tab pos="318600" algn="l"/>
                <a:tab pos="319320" algn="l"/>
              </a:tabLst>
            </a:pPr>
            <a:r>
              <a:rPr lang="en-US" sz="2800" b="1" strike="noStrike" spc="-12" dirty="0" err="1">
                <a:solidFill>
                  <a:schemeClr val="tx2">
                    <a:lumMod val="50000"/>
                  </a:schemeClr>
                </a:solidFill>
                <a:latin typeface="Arial MT"/>
              </a:rPr>
              <a:t>Phạm</a:t>
            </a:r>
            <a:r>
              <a:rPr lang="en-US" sz="2800" b="1" strike="noStrike" spc="-12" dirty="0">
                <a:solidFill>
                  <a:schemeClr val="tx2">
                    <a:lumMod val="50000"/>
                  </a:schemeClr>
                </a:solidFill>
                <a:latin typeface="Arial MT"/>
              </a:rPr>
              <a:t> vi </a:t>
            </a:r>
            <a:r>
              <a:rPr lang="en-US" sz="2800" b="1" strike="noStrike" spc="-12" dirty="0" err="1">
                <a:solidFill>
                  <a:schemeClr val="tx2">
                    <a:lumMod val="50000"/>
                  </a:schemeClr>
                </a:solidFill>
                <a:latin typeface="Arial MT"/>
              </a:rPr>
              <a:t>nghiên</a:t>
            </a:r>
            <a:r>
              <a:rPr lang="en-US" sz="2800" b="1" strike="noStrike" spc="-12" dirty="0">
                <a:solidFill>
                  <a:schemeClr val="tx2">
                    <a:lumMod val="50000"/>
                  </a:schemeClr>
                </a:solidFill>
                <a:latin typeface="Arial MT"/>
              </a:rPr>
              <a:t> </a:t>
            </a:r>
            <a:r>
              <a:rPr lang="en-US" sz="2800" b="1" strike="noStrike" spc="-12" dirty="0" err="1">
                <a:solidFill>
                  <a:schemeClr val="tx2">
                    <a:lumMod val="50000"/>
                  </a:schemeClr>
                </a:solidFill>
                <a:latin typeface="Arial MT"/>
              </a:rPr>
              <a:t>cứu</a:t>
            </a:r>
            <a:r>
              <a:rPr lang="en-US" sz="2800" b="1" strike="noStrike" spc="-12" dirty="0">
                <a:solidFill>
                  <a:schemeClr val="tx2">
                    <a:lumMod val="50000"/>
                  </a:schemeClr>
                </a:solidFill>
                <a:latin typeface="Arial MT"/>
              </a:rPr>
              <a:t>:</a:t>
            </a:r>
          </a:p>
          <a:p>
            <a:pPr marL="812160" lvl="1" indent="-343080" algn="just">
              <a:lnSpc>
                <a:spcPct val="100000"/>
              </a:lnSpc>
              <a:spcBef>
                <a:spcPts val="1276"/>
              </a:spcBef>
              <a:buClr>
                <a:srgbClr val="009DD9"/>
              </a:buClr>
              <a:buSzPct val="92000"/>
              <a:buFont typeface="Arial"/>
              <a:buChar char="•"/>
              <a:tabLst>
                <a:tab pos="318600" algn="l"/>
                <a:tab pos="319320" algn="l"/>
              </a:tabLst>
            </a:pPr>
            <a:r>
              <a:rPr lang="en-US" sz="2400" dirty="0"/>
              <a:t>Xây dựng hệ thống quản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tư</a:t>
            </a:r>
            <a:r>
              <a:rPr lang="en-US" sz="2400" dirty="0"/>
              <a:t> </a:t>
            </a:r>
            <a:r>
              <a:rPr lang="en-US" sz="2400" dirty="0" err="1"/>
              <a:t>vấn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hỗ</a:t>
            </a:r>
            <a:r>
              <a:rPr lang="en-US" sz="2400" dirty="0"/>
              <a:t> </a:t>
            </a:r>
            <a:r>
              <a:rPr lang="en-US" sz="2400" dirty="0" err="1"/>
              <a:t>trợ</a:t>
            </a:r>
            <a:r>
              <a:rPr lang="en-US" sz="2400" dirty="0"/>
              <a:t>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ký</a:t>
            </a:r>
            <a:r>
              <a:rPr lang="en-US" sz="2400" dirty="0"/>
              <a:t> </a:t>
            </a:r>
            <a:r>
              <a:rPr lang="en-US" sz="2400" dirty="0" err="1"/>
              <a:t>chương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du </a:t>
            </a:r>
            <a:r>
              <a:rPr lang="en-US" sz="2400" dirty="0" err="1"/>
              <a:t>học</a:t>
            </a:r>
            <a:r>
              <a:rPr lang="en-US" sz="2400" dirty="0"/>
              <a:t>.</a:t>
            </a:r>
          </a:p>
          <a:p>
            <a:pPr marL="812160" lvl="1" indent="-343080" algn="just">
              <a:lnSpc>
                <a:spcPct val="100000"/>
              </a:lnSpc>
              <a:spcBef>
                <a:spcPts val="1276"/>
              </a:spcBef>
              <a:buClr>
                <a:srgbClr val="009DD9"/>
              </a:buClr>
              <a:buSzPct val="92000"/>
              <a:buFont typeface="Arial"/>
              <a:buChar char="•"/>
              <a:tabLst>
                <a:tab pos="318600" algn="l"/>
                <a:tab pos="319320" algn="l"/>
              </a:tabLst>
            </a:pPr>
            <a:r>
              <a:rPr lang="en-US" sz="2400" dirty="0"/>
              <a:t>Phát triển API chuẩn REST hỗ trợ tích hợp hệ </a:t>
            </a:r>
            <a:r>
              <a:rPr lang="en-US" sz="2400" dirty="0" err="1"/>
              <a:t>thống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.</a:t>
            </a:r>
          </a:p>
        </p:txBody>
      </p:sp>
      <p:sp>
        <p:nvSpPr>
          <p:cNvPr id="137" name="Rectangle 2"/>
          <p:cNvSpPr/>
          <p:nvPr/>
        </p:nvSpPr>
        <p:spPr>
          <a:xfrm>
            <a:off x="2044440" y="-318960"/>
            <a:ext cx="18396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numCol="1" spcCol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br>
              <a:rPr sz="1800"/>
            </a:br>
            <a:endParaRPr lang="en-GB" sz="1800" b="0" strike="noStrike" spc="-1">
              <a:latin typeface="Arial"/>
            </a:endParaRPr>
          </a:p>
        </p:txBody>
      </p:sp>
      <p:sp>
        <p:nvSpPr>
          <p:cNvPr id="138" name="Rectangle 4"/>
          <p:cNvSpPr/>
          <p:nvPr/>
        </p:nvSpPr>
        <p:spPr>
          <a:xfrm>
            <a:off x="2196720" y="-166680"/>
            <a:ext cx="18396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numCol="1" spcCol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br>
              <a:rPr sz="1800"/>
            </a:br>
            <a:endParaRPr lang="en-GB" sz="1800" b="0" strike="noStrike" spc="-1">
              <a:latin typeface="Arial"/>
            </a:endParaRPr>
          </a:p>
        </p:txBody>
      </p:sp>
      <p:sp>
        <p:nvSpPr>
          <p:cNvPr id="139" name="Rectangle 6"/>
          <p:cNvSpPr/>
          <p:nvPr/>
        </p:nvSpPr>
        <p:spPr>
          <a:xfrm>
            <a:off x="2349360" y="-14040"/>
            <a:ext cx="18396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numCol="1" spcCol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br>
              <a:rPr sz="1800"/>
            </a:b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object 2"/>
          <p:cNvSpPr/>
          <p:nvPr/>
        </p:nvSpPr>
        <p:spPr>
          <a:xfrm>
            <a:off x="448200" y="5141880"/>
            <a:ext cx="11291040" cy="1258920"/>
          </a:xfrm>
          <a:custGeom>
            <a:avLst/>
            <a:gdLst/>
            <a:ahLst/>
            <a:cxnLst/>
            <a:rect l="l" t="t" r="r" b="b"/>
            <a:pathLst>
              <a:path w="11291570" h="1259204">
                <a:moveTo>
                  <a:pt x="11291316" y="0"/>
                </a:moveTo>
                <a:lnTo>
                  <a:pt x="0" y="0"/>
                </a:lnTo>
                <a:lnTo>
                  <a:pt x="0" y="1258824"/>
                </a:lnTo>
                <a:lnTo>
                  <a:pt x="11291316" y="1258824"/>
                </a:lnTo>
                <a:lnTo>
                  <a:pt x="11291316" y="0"/>
                </a:lnTo>
                <a:close/>
              </a:path>
            </a:pathLst>
          </a:custGeom>
          <a:solidFill>
            <a:srgbClr val="0E6EC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33520" y="4343400"/>
            <a:ext cx="7493040" cy="1157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600" b="0" strike="noStrike" spc="-7" dirty="0">
                <a:solidFill>
                  <a:srgbClr val="0E6EC5"/>
                </a:solidFill>
                <a:latin typeface="Times New Roman"/>
              </a:rPr>
              <a:t>2. NỘI DUNG THỰC HIỆN</a:t>
            </a:r>
            <a:endParaRPr lang="en-US" sz="36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40280" y="614160"/>
            <a:ext cx="11309760" cy="1148400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txBody>
          <a:bodyPr lIns="0" tIns="324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26"/>
              </a:spcBef>
              <a:buNone/>
            </a:pPr>
            <a:endParaRPr lang="en-US" sz="4200" b="0" strike="noStrike" spc="-1" dirty="0">
              <a:solidFill>
                <a:srgbClr val="000000"/>
              </a:solidFill>
              <a:latin typeface="Calibri"/>
            </a:endParaRPr>
          </a:p>
          <a:p>
            <a:pPr marL="231840">
              <a:lnSpc>
                <a:spcPct val="100000"/>
              </a:lnSpc>
              <a:buNone/>
            </a:pPr>
            <a:r>
              <a:rPr lang="en-US" sz="2800" b="0" strike="noStrike" spc="-7" dirty="0">
                <a:solidFill>
                  <a:srgbClr val="FFFFFF"/>
                </a:solidFill>
                <a:latin typeface="Times New Roman"/>
              </a:rPr>
              <a:t>2.1 </a:t>
            </a:r>
            <a:r>
              <a:rPr lang="en-US" sz="2800" spc="-7" dirty="0">
                <a:solidFill>
                  <a:srgbClr val="FFFFFF"/>
                </a:solidFill>
                <a:latin typeface="Times New Roman"/>
              </a:rPr>
              <a:t>KIẾN TRÚC HỆ THỐNG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Rectangle 3"/>
          <p:cNvSpPr/>
          <p:nvPr/>
        </p:nvSpPr>
        <p:spPr>
          <a:xfrm>
            <a:off x="9129600" y="76320"/>
            <a:ext cx="2195514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7" dirty="0">
                <a:solidFill>
                  <a:srgbClr val="0E6EC5"/>
                </a:solidFill>
                <a:latin typeface="Calibri"/>
              </a:rPr>
              <a:t>2. </a:t>
            </a:r>
            <a:r>
              <a:rPr lang="en-US" sz="1800" b="0" strike="noStrike" spc="-7" dirty="0" err="1">
                <a:solidFill>
                  <a:srgbClr val="0E6EC5"/>
                </a:solidFill>
                <a:latin typeface="Calibri"/>
              </a:rPr>
              <a:t>Nội</a:t>
            </a:r>
            <a:r>
              <a:rPr lang="en-US" sz="1800" b="0" strike="noStrike" spc="-7" dirty="0">
                <a:solidFill>
                  <a:srgbClr val="0E6EC5"/>
                </a:solidFill>
                <a:latin typeface="Calibri"/>
              </a:rPr>
              <a:t> dung </a:t>
            </a:r>
            <a:r>
              <a:rPr lang="en-US" sz="1800" b="0" strike="noStrike" spc="-7" dirty="0" err="1">
                <a:solidFill>
                  <a:srgbClr val="0E6EC5"/>
                </a:solidFill>
                <a:latin typeface="Calibri"/>
              </a:rPr>
              <a:t>thực</a:t>
            </a:r>
            <a:r>
              <a:rPr lang="en-US" sz="1800" b="0" strike="noStrike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en-US" sz="1800" b="0" strike="noStrike" spc="-7" dirty="0" err="1">
                <a:solidFill>
                  <a:srgbClr val="0E6EC5"/>
                </a:solidFill>
                <a:latin typeface="Calibri"/>
              </a:rPr>
              <a:t>hiện</a:t>
            </a:r>
            <a:endParaRPr lang="en-GB" sz="18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80B4A1-E2D3-D497-4737-B2A167E05E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7" t="837" b="1209"/>
          <a:stretch/>
        </p:blipFill>
        <p:spPr bwMode="auto">
          <a:xfrm>
            <a:off x="2001813" y="2306586"/>
            <a:ext cx="8186694" cy="393725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6DD90-1034-1D7F-2214-EF5D7859E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>
            <a:extLst>
              <a:ext uri="{FF2B5EF4-FFF2-40B4-BE49-F238E27FC236}">
                <a16:creationId xmlns:a16="http://schemas.microsoft.com/office/drawing/2014/main" id="{47FABE55-DD70-7F05-7B9E-47B0970DC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80" y="614159"/>
            <a:ext cx="11309760" cy="400110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txBody>
          <a:bodyPr lIns="0" tIns="324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26"/>
              </a:spcBef>
            </a:pPr>
            <a:r>
              <a:rPr lang="en-US" sz="2400" b="0" strike="noStrike" spc="-7" dirty="0">
                <a:solidFill>
                  <a:srgbClr val="FFFFFF"/>
                </a:solidFill>
                <a:latin typeface="Times New Roman"/>
              </a:rPr>
              <a:t>1.2 </a:t>
            </a:r>
            <a:r>
              <a:rPr lang="en-US" sz="2400" spc="-7" dirty="0">
                <a:solidFill>
                  <a:srgbClr val="FFFFFF"/>
                </a:solidFill>
                <a:latin typeface="Times New Roman"/>
              </a:rPr>
              <a:t>MỘT SỐ GIẢI PHÁP CHO XÂY DỰNG BACKEND</a:t>
            </a:r>
            <a:r>
              <a:rPr lang="en-US" sz="2400" b="0" strike="noStrike" spc="-7" dirty="0">
                <a:solidFill>
                  <a:srgbClr val="FFFFFF"/>
                </a:solidFill>
                <a:latin typeface="Times New Roman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0E81024-202F-617A-981E-18CB97BA6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40" y="3651023"/>
            <a:ext cx="21352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0E8FBD-E3ED-4235-1807-825AA3CEB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334321"/>
              </p:ext>
            </p:extLst>
          </p:nvPr>
        </p:nvGraphicFramePr>
        <p:xfrm>
          <a:off x="452200" y="2030887"/>
          <a:ext cx="11309760" cy="4257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6760">
                  <a:extLst>
                    <a:ext uri="{9D8B030D-6E8A-4147-A177-3AD203B41FA5}">
                      <a16:colId xmlns:a16="http://schemas.microsoft.com/office/drawing/2014/main" val="2386700432"/>
                    </a:ext>
                  </a:extLst>
                </a:gridCol>
                <a:gridCol w="4682163">
                  <a:extLst>
                    <a:ext uri="{9D8B030D-6E8A-4147-A177-3AD203B41FA5}">
                      <a16:colId xmlns:a16="http://schemas.microsoft.com/office/drawing/2014/main" val="1081716289"/>
                    </a:ext>
                  </a:extLst>
                </a:gridCol>
                <a:gridCol w="3970837">
                  <a:extLst>
                    <a:ext uri="{9D8B030D-6E8A-4147-A177-3AD203B41FA5}">
                      <a16:colId xmlns:a16="http://schemas.microsoft.com/office/drawing/2014/main" val="2229527007"/>
                    </a:ext>
                  </a:extLst>
                </a:gridCol>
              </a:tblGrid>
              <a:tr h="70766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Ngôn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ngữ</a:t>
                      </a:r>
                      <a:r>
                        <a:rPr lang="en-US" sz="2000" dirty="0"/>
                        <a:t> &amp;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000" dirty="0"/>
                        <a:t>Ưu điểm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000" dirty="0"/>
                        <a:t>Nhược điểm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381558"/>
                  </a:ext>
                </a:extLst>
              </a:tr>
              <a:tr h="117249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Python – Django REST Framework</a:t>
                      </a:r>
                      <a:endParaRPr lang="en-US" sz="18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Dễ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triển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khai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API RESTful.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Hệ sinh thái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đa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dạng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(ORM, Auth, Admin…).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Bảo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mật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tốt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và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dễ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bảo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trì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.</a:t>
                      </a:r>
                      <a:endParaRPr lang="en-US" sz="18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Hiệu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năng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không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cao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với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dữ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liệu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cực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lớn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Cần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tối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ưu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khi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xử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lý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real-time.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826430"/>
                  </a:ext>
                </a:extLst>
              </a:tr>
              <a:tr h="117249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Java</a:t>
                      </a:r>
                      <a:r>
                        <a:rPr lang="en-US" sz="1800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Script + Fetch API</a:t>
                      </a:r>
                      <a:endParaRPr lang="en-US" sz="1800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Không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cần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thư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viện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ngoài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để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gọi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API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Dễ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tích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hợp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với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HTML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tĩnh</a:t>
                      </a:r>
                      <a:b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</a:b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Hỗ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trợ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thao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tác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dữ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liệu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mà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không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cần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reload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trang</a:t>
                      </a:r>
                      <a:endParaRPr lang="en-US" sz="18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Viết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nhiều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code JS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thủ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công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cho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các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xử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lý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phức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tạp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Không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hỗ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trợ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tự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động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các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request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như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Axios.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7652120"/>
                  </a:ext>
                </a:extLst>
              </a:tr>
              <a:tr h="117249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AdminLTE</a:t>
                      </a:r>
                      <a:endParaRPr lang="en-US" sz="1800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Giao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diện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thân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thiện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cho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người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mới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và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có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nhiều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template </a:t>
                      </a:r>
                      <a:r>
                        <a:rPr lang="en-US" sz="1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sẵn</a:t>
                      </a:r>
                      <a:r>
                        <a:rPr lang="en-US" sz="1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Dễ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bị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rườm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rà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nếu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không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quản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lý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code CSS/JS </a:t>
                      </a:r>
                      <a:r>
                        <a:rPr lang="en-US" sz="1800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tốt</a:t>
                      </a:r>
                      <a:r>
                        <a:rPr lang="en-US" sz="18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058037"/>
                  </a:ext>
                </a:extLst>
              </a:tr>
            </a:tbl>
          </a:graphicData>
        </a:graphic>
      </p:graphicFrame>
      <p:sp>
        <p:nvSpPr>
          <p:cNvPr id="6" name="PlaceHolder 1"/>
          <p:cNvSpPr txBox="1">
            <a:spLocks/>
          </p:cNvSpPr>
          <p:nvPr/>
        </p:nvSpPr>
        <p:spPr>
          <a:xfrm>
            <a:off x="440280" y="614160"/>
            <a:ext cx="11309760" cy="1148400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txBody>
          <a:bodyPr lIns="0" tIns="324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26"/>
              </a:spcBef>
            </a:pPr>
            <a:endParaRPr lang="en-US" sz="4200" spc="-1" dirty="0">
              <a:solidFill>
                <a:srgbClr val="000000"/>
              </a:solidFill>
              <a:latin typeface="Calibri"/>
            </a:endParaRPr>
          </a:p>
          <a:p>
            <a:pPr marL="231840">
              <a:lnSpc>
                <a:spcPct val="100000"/>
              </a:lnSpc>
            </a:pPr>
            <a:r>
              <a:rPr lang="en-US" sz="2800" spc="-7" dirty="0">
                <a:solidFill>
                  <a:srgbClr val="FFFFFF"/>
                </a:solidFill>
                <a:latin typeface="Times New Roman"/>
              </a:rPr>
              <a:t>2.2 MỘT SỐ GIẢI PHÁP XÂY DỰNG BACKEND</a:t>
            </a:r>
            <a:endParaRPr lang="en-US" sz="28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Rectangle 3"/>
          <p:cNvSpPr/>
          <p:nvPr/>
        </p:nvSpPr>
        <p:spPr>
          <a:xfrm>
            <a:off x="9129600" y="76320"/>
            <a:ext cx="2195514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7" dirty="0">
                <a:solidFill>
                  <a:srgbClr val="0E6EC5"/>
                </a:solidFill>
                <a:latin typeface="Calibri"/>
              </a:rPr>
              <a:t>2. </a:t>
            </a:r>
            <a:r>
              <a:rPr lang="en-US" sz="1800" b="0" strike="noStrike" spc="-7" dirty="0" err="1">
                <a:solidFill>
                  <a:srgbClr val="0E6EC5"/>
                </a:solidFill>
                <a:latin typeface="Calibri"/>
              </a:rPr>
              <a:t>Nội</a:t>
            </a:r>
            <a:r>
              <a:rPr lang="en-US" sz="1800" b="0" strike="noStrike" spc="-7" dirty="0">
                <a:solidFill>
                  <a:srgbClr val="0E6EC5"/>
                </a:solidFill>
                <a:latin typeface="Calibri"/>
              </a:rPr>
              <a:t> dung </a:t>
            </a:r>
            <a:r>
              <a:rPr lang="en-US" sz="1800" b="0" strike="noStrike" spc="-7" dirty="0" err="1">
                <a:solidFill>
                  <a:srgbClr val="0E6EC5"/>
                </a:solidFill>
                <a:latin typeface="Calibri"/>
              </a:rPr>
              <a:t>thực</a:t>
            </a:r>
            <a:r>
              <a:rPr lang="en-US" sz="1800" b="0" strike="noStrike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en-US" sz="1800" b="0" strike="noStrike" spc="-7" dirty="0" err="1">
                <a:solidFill>
                  <a:srgbClr val="0E6EC5"/>
                </a:solidFill>
                <a:latin typeface="Calibri"/>
              </a:rPr>
              <a:t>hiện</a:t>
            </a:r>
            <a:endParaRPr lang="en-GB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2191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87272-D218-FC68-42C8-C7D6457C2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>
            <a:extLst>
              <a:ext uri="{FF2B5EF4-FFF2-40B4-BE49-F238E27FC236}">
                <a16:creationId xmlns:a16="http://schemas.microsoft.com/office/drawing/2014/main" id="{59BAE4F0-EEE9-04CB-45C5-44FE31704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80" y="614160"/>
            <a:ext cx="11309760" cy="1148400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txBody>
          <a:bodyPr lIns="0" tIns="324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26"/>
              </a:spcBef>
              <a:buNone/>
            </a:pPr>
            <a:endParaRPr lang="en-US" sz="4200" b="0" strike="noStrike" spc="-1" dirty="0">
              <a:solidFill>
                <a:srgbClr val="000000"/>
              </a:solidFill>
              <a:latin typeface="Calibri"/>
            </a:endParaRPr>
          </a:p>
          <a:p>
            <a:pPr marL="231840">
              <a:lnSpc>
                <a:spcPct val="100000"/>
              </a:lnSpc>
              <a:buNone/>
            </a:pPr>
            <a:r>
              <a:rPr lang="en-US" sz="2800" b="0" strike="noStrike" spc="-7" dirty="0">
                <a:solidFill>
                  <a:srgbClr val="FFFFFF"/>
                </a:solidFill>
                <a:latin typeface="Times New Roman"/>
              </a:rPr>
              <a:t>2.</a:t>
            </a:r>
            <a:r>
              <a:rPr lang="en-US" sz="2800" spc="-7" dirty="0">
                <a:solidFill>
                  <a:srgbClr val="FFFFFF"/>
                </a:solidFill>
                <a:latin typeface="Times New Roman"/>
              </a:rPr>
              <a:t>3 MÔ HÌNH DỮ LIỆU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Rectangle 2">
            <a:extLst>
              <a:ext uri="{FF2B5EF4-FFF2-40B4-BE49-F238E27FC236}">
                <a16:creationId xmlns:a16="http://schemas.microsoft.com/office/drawing/2014/main" id="{7E542489-58FC-20AA-45B6-C74EC568840B}"/>
              </a:ext>
            </a:extLst>
          </p:cNvPr>
          <p:cNvSpPr/>
          <p:nvPr/>
        </p:nvSpPr>
        <p:spPr>
          <a:xfrm>
            <a:off x="9129600" y="76320"/>
            <a:ext cx="2195514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7" dirty="0">
                <a:solidFill>
                  <a:srgbClr val="0E6EC5"/>
                </a:solidFill>
                <a:latin typeface="Calibri"/>
              </a:rPr>
              <a:t>2.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Nội</a:t>
            </a:r>
            <a:r>
              <a:rPr lang="en-US" spc="-7" dirty="0">
                <a:solidFill>
                  <a:srgbClr val="0E6EC5"/>
                </a:solidFill>
                <a:latin typeface="Calibri"/>
              </a:rPr>
              <a:t> dung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thực</a:t>
            </a:r>
            <a:r>
              <a:rPr lang="en-US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hiện</a:t>
            </a:r>
            <a:endParaRPr lang="en-GB" spc="-1" dirty="0"/>
          </a:p>
        </p:txBody>
      </p:sp>
      <p:sp>
        <p:nvSpPr>
          <p:cNvPr id="4" name="TextBox 3"/>
          <p:cNvSpPr txBox="1"/>
          <p:nvPr/>
        </p:nvSpPr>
        <p:spPr>
          <a:xfrm>
            <a:off x="440280" y="614160"/>
            <a:ext cx="34507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SƠ ĐỒ CDM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0280" y="618347"/>
            <a:ext cx="20972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SƠ ĐỒ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13FA64-AEB3-BA42-271F-412F990462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80" y="1762560"/>
            <a:ext cx="11309760" cy="509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49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B5A51-5E60-522E-F017-BF4C071D9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>
            <a:extLst>
              <a:ext uri="{FF2B5EF4-FFF2-40B4-BE49-F238E27FC236}">
                <a16:creationId xmlns:a16="http://schemas.microsoft.com/office/drawing/2014/main" id="{2AACF250-5B23-AEE5-DC96-1D88798CD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80" y="614160"/>
            <a:ext cx="11309760" cy="1148400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txBody>
          <a:bodyPr lIns="0" tIns="324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26"/>
              </a:spcBef>
              <a:buNone/>
            </a:pPr>
            <a:endParaRPr lang="en-US" sz="4200" b="0" strike="noStrike" spc="-1" dirty="0">
              <a:solidFill>
                <a:srgbClr val="000000"/>
              </a:solidFill>
              <a:latin typeface="Calibri"/>
            </a:endParaRPr>
          </a:p>
          <a:p>
            <a:pPr marL="231840">
              <a:lnSpc>
                <a:spcPct val="100000"/>
              </a:lnSpc>
              <a:buNone/>
            </a:pPr>
            <a:r>
              <a:rPr lang="en-US" sz="2800" b="0" strike="noStrike" spc="-7" dirty="0">
                <a:solidFill>
                  <a:srgbClr val="FFFFFF"/>
                </a:solidFill>
                <a:latin typeface="Times New Roman"/>
              </a:rPr>
              <a:t>2.</a:t>
            </a:r>
            <a:r>
              <a:rPr lang="en-US" sz="2800" spc="-7" dirty="0">
                <a:solidFill>
                  <a:srgbClr val="FFFFFF"/>
                </a:solidFill>
                <a:latin typeface="Times New Roman"/>
              </a:rPr>
              <a:t>5</a:t>
            </a:r>
            <a:r>
              <a:rPr lang="vi-VN" sz="2800" b="0" strike="noStrike" spc="-7" dirty="0">
                <a:solidFill>
                  <a:srgbClr val="FFFFFF"/>
                </a:solidFill>
                <a:latin typeface="Times New Roman"/>
              </a:rPr>
              <a:t> KẾT QUẢ ĐẠT ĐƯỢC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Rectangle 2">
            <a:extLst>
              <a:ext uri="{FF2B5EF4-FFF2-40B4-BE49-F238E27FC236}">
                <a16:creationId xmlns:a16="http://schemas.microsoft.com/office/drawing/2014/main" id="{A61608E3-957B-365B-C139-E63FEF460150}"/>
              </a:ext>
            </a:extLst>
          </p:cNvPr>
          <p:cNvSpPr/>
          <p:nvPr/>
        </p:nvSpPr>
        <p:spPr>
          <a:xfrm>
            <a:off x="9129600" y="76320"/>
            <a:ext cx="2195514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7" dirty="0">
                <a:solidFill>
                  <a:srgbClr val="0E6EC5"/>
                </a:solidFill>
                <a:latin typeface="Calibri"/>
              </a:rPr>
              <a:t>2. </a:t>
            </a:r>
            <a:r>
              <a:rPr lang="en-US" sz="1800" b="0" strike="noStrike" spc="-7" dirty="0" err="1">
                <a:solidFill>
                  <a:srgbClr val="0E6EC5"/>
                </a:solidFill>
                <a:latin typeface="Calibri"/>
              </a:rPr>
              <a:t>Nội</a:t>
            </a:r>
            <a:r>
              <a:rPr lang="en-US" sz="1800" b="0" strike="noStrike" spc="-7" dirty="0">
                <a:solidFill>
                  <a:srgbClr val="0E6EC5"/>
                </a:solidFill>
                <a:latin typeface="Calibri"/>
              </a:rPr>
              <a:t> dung </a:t>
            </a:r>
            <a:r>
              <a:rPr lang="en-US" sz="1800" b="0" strike="noStrike" spc="-7" dirty="0" err="1">
                <a:solidFill>
                  <a:srgbClr val="0E6EC5"/>
                </a:solidFill>
                <a:latin typeface="Calibri"/>
              </a:rPr>
              <a:t>thực</a:t>
            </a:r>
            <a:r>
              <a:rPr lang="en-US" sz="1800" b="0" strike="noStrike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en-US" sz="1800" b="0" strike="noStrike" spc="-7" dirty="0" err="1">
                <a:solidFill>
                  <a:srgbClr val="0E6EC5"/>
                </a:solidFill>
                <a:latin typeface="Calibri"/>
              </a:rPr>
              <a:t>hiện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279FEF-93B8-397F-B4C1-5EA114D68916}"/>
              </a:ext>
            </a:extLst>
          </p:cNvPr>
          <p:cNvSpPr/>
          <p:nvPr/>
        </p:nvSpPr>
        <p:spPr>
          <a:xfrm>
            <a:off x="440280" y="2047605"/>
            <a:ext cx="5425499" cy="445583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Xây dựng cơ bản thành công một website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quản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lý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của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trung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tâm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tư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vấn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du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học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Phát triển được các API nội bộ, tạo điều kiện mở rộng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ứng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dụng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Giao diện thân thiện với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người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dùng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giúp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học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sinh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dễ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dàng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tạo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đơn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đăng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ký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du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học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và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bổ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sung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hồ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sơ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vi-VN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A97749-B503-829F-90F6-80C7A17BB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779" y="2169366"/>
            <a:ext cx="5884261" cy="417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935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object 2"/>
          <p:cNvSpPr/>
          <p:nvPr/>
        </p:nvSpPr>
        <p:spPr>
          <a:xfrm>
            <a:off x="448200" y="5141880"/>
            <a:ext cx="11291040" cy="1258920"/>
          </a:xfrm>
          <a:custGeom>
            <a:avLst/>
            <a:gdLst/>
            <a:ahLst/>
            <a:cxnLst/>
            <a:rect l="l" t="t" r="r" b="b"/>
            <a:pathLst>
              <a:path w="11291570" h="1259204">
                <a:moveTo>
                  <a:pt x="11291316" y="0"/>
                </a:moveTo>
                <a:lnTo>
                  <a:pt x="0" y="0"/>
                </a:lnTo>
                <a:lnTo>
                  <a:pt x="0" y="1258824"/>
                </a:lnTo>
                <a:lnTo>
                  <a:pt x="11291316" y="1258824"/>
                </a:lnTo>
                <a:lnTo>
                  <a:pt x="11291316" y="0"/>
                </a:lnTo>
                <a:close/>
              </a:path>
            </a:pathLst>
          </a:custGeom>
          <a:solidFill>
            <a:srgbClr val="0E6EC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533520" y="4343400"/>
            <a:ext cx="8163440" cy="1157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vi-VN" sz="3600" spc="-7" dirty="0">
                <a:solidFill>
                  <a:srgbClr val="0E6EC5"/>
                </a:solidFill>
                <a:latin typeface="Times New Roman"/>
              </a:rPr>
              <a:t>3</a:t>
            </a:r>
            <a:r>
              <a:rPr lang="en-US" sz="3600" b="0" strike="noStrike" spc="-7" dirty="0">
                <a:solidFill>
                  <a:srgbClr val="0E6EC5"/>
                </a:solidFill>
                <a:latin typeface="Times New Roman"/>
              </a:rPr>
              <a:t>. </a:t>
            </a:r>
            <a:r>
              <a:rPr lang="vi-VN" sz="3600" b="0" strike="noStrike" spc="-7" dirty="0">
                <a:solidFill>
                  <a:srgbClr val="0E6EC5"/>
                </a:solidFill>
                <a:latin typeface="Times New Roman"/>
              </a:rPr>
              <a:t>KẾT LUẬN – HƯỚNG PHÁT TRIỂN</a:t>
            </a:r>
            <a:endParaRPr lang="en-US" sz="36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C7C9C-0B65-D31E-D60A-C6464E41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>
            <a:extLst>
              <a:ext uri="{FF2B5EF4-FFF2-40B4-BE49-F238E27FC236}">
                <a16:creationId xmlns:a16="http://schemas.microsoft.com/office/drawing/2014/main" id="{5CD8CB7A-9431-95AC-6945-3A8DBA73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80" y="614160"/>
            <a:ext cx="11309760" cy="1148400"/>
          </a:xfrm>
          <a:prstGeom prst="rect">
            <a:avLst/>
          </a:prstGeom>
          <a:solidFill>
            <a:srgbClr val="0E6EC5"/>
          </a:solidFill>
          <a:ln w="0">
            <a:noFill/>
          </a:ln>
        </p:spPr>
        <p:txBody>
          <a:bodyPr lIns="0" tIns="324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26"/>
              </a:spcBef>
              <a:buNone/>
            </a:pPr>
            <a:endParaRPr lang="en-US" sz="4200" b="0" strike="noStrike" spc="-1" dirty="0">
              <a:solidFill>
                <a:srgbClr val="000000"/>
              </a:solidFill>
              <a:latin typeface="Calibri"/>
            </a:endParaRPr>
          </a:p>
          <a:p>
            <a:pPr marL="231840">
              <a:lnSpc>
                <a:spcPct val="100000"/>
              </a:lnSpc>
              <a:buNone/>
            </a:pPr>
            <a:r>
              <a:rPr lang="vi-VN" sz="2800" b="0" strike="noStrike" spc="-7" dirty="0">
                <a:solidFill>
                  <a:srgbClr val="FFFFFF"/>
                </a:solidFill>
                <a:latin typeface="Times New Roman"/>
              </a:rPr>
              <a:t>3</a:t>
            </a:r>
            <a:r>
              <a:rPr lang="en-US" sz="2800" b="0" strike="noStrike" spc="-7" dirty="0">
                <a:solidFill>
                  <a:srgbClr val="FFFFFF"/>
                </a:solidFill>
                <a:latin typeface="Times New Roman"/>
              </a:rPr>
              <a:t>.1</a:t>
            </a:r>
            <a:r>
              <a:rPr lang="vi-VN" sz="2800" b="0" strike="noStrike" spc="-7" dirty="0">
                <a:solidFill>
                  <a:srgbClr val="FFFFFF"/>
                </a:solidFill>
                <a:latin typeface="Times New Roman"/>
              </a:rPr>
              <a:t> KẾT LUẬN 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Rectangle 2">
            <a:extLst>
              <a:ext uri="{FF2B5EF4-FFF2-40B4-BE49-F238E27FC236}">
                <a16:creationId xmlns:a16="http://schemas.microsoft.com/office/drawing/2014/main" id="{EFD338C5-A818-77BA-972C-C656F611FE40}"/>
              </a:ext>
            </a:extLst>
          </p:cNvPr>
          <p:cNvSpPr/>
          <p:nvPr/>
        </p:nvSpPr>
        <p:spPr>
          <a:xfrm>
            <a:off x="8246877" y="91460"/>
            <a:ext cx="2978229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7" dirty="0">
                <a:solidFill>
                  <a:srgbClr val="0E6EC5"/>
                </a:solidFill>
                <a:latin typeface="Calibri"/>
              </a:rPr>
              <a:t>3.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Kết</a:t>
            </a:r>
            <a:r>
              <a:rPr lang="en-US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luận</a:t>
            </a:r>
            <a:r>
              <a:rPr lang="en-US" spc="-7" dirty="0">
                <a:solidFill>
                  <a:srgbClr val="0E6EC5"/>
                </a:solidFill>
                <a:latin typeface="Calibri"/>
              </a:rPr>
              <a:t> –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hướng</a:t>
            </a:r>
            <a:r>
              <a:rPr lang="en-US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phát</a:t>
            </a:r>
            <a:r>
              <a:rPr lang="en-US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triển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83535B-8D51-5AAB-B988-98760B0164DA}"/>
              </a:ext>
            </a:extLst>
          </p:cNvPr>
          <p:cNvSpPr/>
          <p:nvPr/>
        </p:nvSpPr>
        <p:spPr>
          <a:xfrm>
            <a:off x="440280" y="2208392"/>
            <a:ext cx="5310329" cy="445583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Kết quả</a:t>
            </a:r>
            <a:endParaRPr lang="vi-VN" sz="2400" b="1" cap="none" spc="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Hệ thống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đáp ứng được chức năng cốt lõi và </a:t>
            </a:r>
            <a:r>
              <a:rPr lang="en-US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cần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thiết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cho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người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quản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lý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Sử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dụng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API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giúp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tiết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kiệm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thời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gian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tạo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điều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kiện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tích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hợp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mở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rộng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hệ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thống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sau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này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Giao diện thân thiện, dễ sử dụng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2DEB13-DC75-4D7E-94B4-4E078A8D2F01}"/>
              </a:ext>
            </a:extLst>
          </p:cNvPr>
          <p:cNvSpPr/>
          <p:nvPr/>
        </p:nvSpPr>
        <p:spPr>
          <a:xfrm>
            <a:off x="6439710" y="2208392"/>
            <a:ext cx="5310330" cy="39018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Hạn chế</a:t>
            </a:r>
            <a:endParaRPr lang="vi-VN" sz="2400" b="1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Chưa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theo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dõi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được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lịch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sử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email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thông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qua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giao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diện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quản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lý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Chưa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hỗ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trợ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chatbot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để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tư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vấn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khách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hàng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24/7.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Chưa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hỗ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trợ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nhập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bảng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điểm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tự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động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bằng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hình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ảnh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vi-V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69766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472DEB13-DC75-4D7E-94B4-4E078A8D2F0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40280" y="2672893"/>
            <a:ext cx="11310840" cy="279384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Tích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hợp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thêm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AI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để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tự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động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tư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vấn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khách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hàng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vi-VN" sz="240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Tích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hợp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thêm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một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số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API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khác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để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cung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cấp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thông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tin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về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chương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trình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du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học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b="0" cap="none" spc="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Nghiên</a:t>
            </a:r>
            <a:r>
              <a:rPr lang="en-US" sz="2400" b="0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cứu</a:t>
            </a:r>
            <a:r>
              <a:rPr lang="en-US" sz="2400" b="0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và</a:t>
            </a:r>
            <a:r>
              <a:rPr lang="en-US" sz="2400" b="0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tìm</a:t>
            </a:r>
            <a:r>
              <a:rPr lang="en-US" sz="2400" b="0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hiểu</a:t>
            </a:r>
            <a:r>
              <a:rPr lang="en-US" sz="2400" b="0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thêm</a:t>
            </a:r>
            <a:r>
              <a:rPr lang="en-US" sz="2400" b="0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công</a:t>
            </a:r>
            <a:r>
              <a:rPr lang="en-US" sz="2400" b="0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nghệ</a:t>
            </a:r>
            <a:r>
              <a:rPr lang="en-US" sz="2400" b="0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để</a:t>
            </a:r>
            <a:r>
              <a:rPr lang="en-US" sz="2400" b="0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nhập</a:t>
            </a:r>
            <a:r>
              <a:rPr lang="en-US" sz="2400" b="0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bảng</a:t>
            </a:r>
            <a:r>
              <a:rPr lang="en-US" sz="2400" b="0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điểm</a:t>
            </a:r>
            <a:r>
              <a:rPr lang="en-US" sz="2400" b="0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tự</a:t>
            </a:r>
            <a:r>
              <a:rPr lang="en-US" sz="2400" b="0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động</a:t>
            </a:r>
            <a:r>
              <a:rPr lang="en-US" sz="2400" b="0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bằng</a:t>
            </a:r>
            <a:r>
              <a:rPr lang="en-US" sz="2400" b="0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hình</a:t>
            </a:r>
            <a:r>
              <a:rPr lang="en-US" sz="2400" b="0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cap="none" spc="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ảnh</a:t>
            </a:r>
            <a:r>
              <a:rPr lang="en-US" sz="2400" b="0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Bổ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sung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thêm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giao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diện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quản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lý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cho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nhân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viên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tư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vấn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5CD8CB7A-9431-95AC-6945-3A8DBA73CE8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0E6EC5"/>
          </a:solidFill>
          <a:ln w="0">
            <a:noFill/>
          </a:ln>
        </p:spPr>
        <p:txBody>
          <a:bodyPr lIns="0" tIns="324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26"/>
              </a:spcBef>
              <a:buNone/>
            </a:pPr>
            <a:endParaRPr lang="en-US" sz="4200" b="0" strike="noStrike" spc="-1" dirty="0">
              <a:solidFill>
                <a:srgbClr val="000000"/>
              </a:solidFill>
              <a:latin typeface="Calibri"/>
            </a:endParaRPr>
          </a:p>
          <a:p>
            <a:pPr marL="231840">
              <a:lnSpc>
                <a:spcPct val="100000"/>
              </a:lnSpc>
              <a:buNone/>
            </a:pPr>
            <a:r>
              <a:rPr lang="vi-VN" sz="2800" b="0" strike="noStrike" spc="-7" dirty="0">
                <a:solidFill>
                  <a:srgbClr val="FFFFFF"/>
                </a:solidFill>
                <a:latin typeface="Times New Roman"/>
              </a:rPr>
              <a:t>3</a:t>
            </a:r>
            <a:r>
              <a:rPr lang="en-US" sz="2800" b="0" strike="noStrike" spc="-7" dirty="0">
                <a:solidFill>
                  <a:srgbClr val="FFFFFF"/>
                </a:solidFill>
                <a:latin typeface="Times New Roman"/>
              </a:rPr>
              <a:t>.2</a:t>
            </a:r>
            <a:r>
              <a:rPr lang="vi-VN" sz="2800" b="0" strike="noStrike" spc="-7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lang="en-US" sz="2800" b="0" strike="noStrike" spc="-7" dirty="0">
                <a:solidFill>
                  <a:srgbClr val="FFFFFF"/>
                </a:solidFill>
                <a:latin typeface="Times New Roman"/>
              </a:rPr>
              <a:t>HƯỚNG PHÁT TRIỂN</a:t>
            </a:r>
            <a:r>
              <a:rPr lang="vi-VN" sz="2800" b="0" strike="noStrike" spc="-7" dirty="0">
                <a:solidFill>
                  <a:srgbClr val="FFFFFF"/>
                </a:solidFill>
                <a:latin typeface="Times New Roman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FD338C5-A818-77BA-972C-C656F611FE40}"/>
              </a:ext>
            </a:extLst>
          </p:cNvPr>
          <p:cNvSpPr/>
          <p:nvPr/>
        </p:nvSpPr>
        <p:spPr>
          <a:xfrm>
            <a:off x="8246877" y="91460"/>
            <a:ext cx="2978229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7" dirty="0">
                <a:solidFill>
                  <a:srgbClr val="0E6EC5"/>
                </a:solidFill>
                <a:latin typeface="Calibri"/>
              </a:rPr>
              <a:t>3.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Kết</a:t>
            </a:r>
            <a:r>
              <a:rPr lang="en-US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luận</a:t>
            </a:r>
            <a:r>
              <a:rPr lang="en-US" spc="-7" dirty="0">
                <a:solidFill>
                  <a:srgbClr val="0E6EC5"/>
                </a:solidFill>
                <a:latin typeface="Calibri"/>
              </a:rPr>
              <a:t> –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hướng</a:t>
            </a:r>
            <a:r>
              <a:rPr lang="en-US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phát</a:t>
            </a:r>
            <a:r>
              <a:rPr lang="en-US" spc="-7" dirty="0">
                <a:solidFill>
                  <a:srgbClr val="0E6EC5"/>
                </a:solidFill>
                <a:latin typeface="Calibri"/>
              </a:rPr>
              <a:t> </a:t>
            </a:r>
            <a:r>
              <a:rPr lang="en-US" spc="-7" dirty="0" err="1">
                <a:solidFill>
                  <a:srgbClr val="0E6EC5"/>
                </a:solidFill>
                <a:latin typeface="Calibri"/>
              </a:rPr>
              <a:t>triển</a:t>
            </a:r>
            <a:endParaRPr lang="en-GB" spc="-1" dirty="0"/>
          </a:p>
        </p:txBody>
      </p:sp>
    </p:spTree>
    <p:extLst>
      <p:ext uri="{BB962C8B-B14F-4D97-AF65-F5344CB8AC3E}">
        <p14:creationId xmlns:p14="http://schemas.microsoft.com/office/powerpoint/2010/main" val="2307675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5FA7-10CE-D3B5-AFBF-406AEAF5A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object 2">
            <a:extLst>
              <a:ext uri="{FF2B5EF4-FFF2-40B4-BE49-F238E27FC236}">
                <a16:creationId xmlns:a16="http://schemas.microsoft.com/office/drawing/2014/main" id="{F921E53B-6786-33FC-6301-42FD5DD56E9E}"/>
              </a:ext>
            </a:extLst>
          </p:cNvPr>
          <p:cNvSpPr/>
          <p:nvPr/>
        </p:nvSpPr>
        <p:spPr>
          <a:xfrm>
            <a:off x="367440" y="5132736"/>
            <a:ext cx="11291040" cy="1258920"/>
          </a:xfrm>
          <a:custGeom>
            <a:avLst/>
            <a:gdLst/>
            <a:ahLst/>
            <a:cxnLst/>
            <a:rect l="l" t="t" r="r" b="b"/>
            <a:pathLst>
              <a:path w="11291570" h="1259204">
                <a:moveTo>
                  <a:pt x="11291316" y="0"/>
                </a:moveTo>
                <a:lnTo>
                  <a:pt x="0" y="0"/>
                </a:lnTo>
                <a:lnTo>
                  <a:pt x="0" y="1258824"/>
                </a:lnTo>
                <a:lnTo>
                  <a:pt x="11291316" y="1258824"/>
                </a:lnTo>
                <a:lnTo>
                  <a:pt x="11291316" y="0"/>
                </a:lnTo>
                <a:close/>
              </a:path>
            </a:pathLst>
          </a:custGeom>
          <a:solidFill>
            <a:srgbClr val="0E6EC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1" name="PlaceHolder 1">
            <a:extLst>
              <a:ext uri="{FF2B5EF4-FFF2-40B4-BE49-F238E27FC236}">
                <a16:creationId xmlns:a16="http://schemas.microsoft.com/office/drawing/2014/main" id="{671B52A1-3638-3A9B-1FB4-3DCE4F1B6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520" y="4343400"/>
            <a:ext cx="7493040" cy="1157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vi-VN" sz="3600" spc="-7" dirty="0">
                <a:solidFill>
                  <a:srgbClr val="0E6EC5"/>
                </a:solidFill>
                <a:latin typeface="Times New Roman"/>
              </a:rPr>
              <a:t>4</a:t>
            </a:r>
            <a:r>
              <a:rPr lang="en-US" sz="3600" b="0" strike="noStrike" spc="-7" dirty="0">
                <a:solidFill>
                  <a:srgbClr val="0E6EC5"/>
                </a:solidFill>
                <a:latin typeface="Times New Roman"/>
              </a:rPr>
              <a:t>. DEMO</a:t>
            </a:r>
            <a:endParaRPr lang="en-US" sz="36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3658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object 2"/>
          <p:cNvSpPr/>
          <p:nvPr/>
        </p:nvSpPr>
        <p:spPr>
          <a:xfrm>
            <a:off x="457200" y="5105520"/>
            <a:ext cx="11291040" cy="1258920"/>
          </a:xfrm>
          <a:custGeom>
            <a:avLst/>
            <a:gdLst/>
            <a:ahLst/>
            <a:cxnLst/>
            <a:rect l="l" t="t" r="r" b="b"/>
            <a:pathLst>
              <a:path w="11291570" h="1259204">
                <a:moveTo>
                  <a:pt x="11291316" y="0"/>
                </a:moveTo>
                <a:lnTo>
                  <a:pt x="0" y="0"/>
                </a:lnTo>
                <a:lnTo>
                  <a:pt x="0" y="1258824"/>
                </a:lnTo>
                <a:lnTo>
                  <a:pt x="11291316" y="1258824"/>
                </a:lnTo>
                <a:lnTo>
                  <a:pt x="11291316" y="0"/>
                </a:lnTo>
                <a:close/>
              </a:path>
            </a:pathLst>
          </a:custGeom>
          <a:solidFill>
            <a:srgbClr val="0E6EC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3698280" y="2514600"/>
            <a:ext cx="4493880" cy="1157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ZW" sz="5400" b="0" strike="noStrike" spc="-21" dirty="0">
                <a:solidFill>
                  <a:srgbClr val="0E6EC5"/>
                </a:solidFill>
                <a:latin typeface="Times New Roman"/>
              </a:rPr>
              <a:t>THANK YOU!</a:t>
            </a:r>
            <a:endParaRPr lang="en-US" sz="5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4" name="Rectangle 4"/>
          <p:cNvSpPr/>
          <p:nvPr/>
        </p:nvSpPr>
        <p:spPr>
          <a:xfrm>
            <a:off x="3913071" y="5566430"/>
            <a:ext cx="4064297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spc="-1" dirty="0">
                <a:solidFill>
                  <a:schemeClr val="bg1"/>
                </a:solidFill>
                <a:latin typeface="Times New Roman"/>
              </a:rPr>
              <a:t>WEBSITE TRUNG TÂM TƯ VẤN  DU HỌC</a:t>
            </a:r>
            <a:endParaRPr lang="en-GB" sz="1600" spc="-1" dirty="0">
              <a:solidFill>
                <a:schemeClr val="bg1"/>
              </a:solidFill>
            </a:endParaRPr>
          </a:p>
        </p:txBody>
      </p:sp>
      <p:sp>
        <p:nvSpPr>
          <p:cNvPr id="275" name="Rectangle 5"/>
          <p:cNvSpPr/>
          <p:nvPr/>
        </p:nvSpPr>
        <p:spPr>
          <a:xfrm>
            <a:off x="9435514" y="0"/>
            <a:ext cx="2312726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pc="-7" dirty="0">
                <a:solidFill>
                  <a:srgbClr val="0E6EC5"/>
                </a:solidFill>
                <a:latin typeface="Times New Roman"/>
              </a:rPr>
              <a:t>Do Nguyen Minh Sang</a:t>
            </a:r>
            <a:endParaRPr lang="en-GB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000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000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000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3231</TotalTime>
  <Words>782</Words>
  <Application>Microsoft Office PowerPoint</Application>
  <PresentationFormat>Widescreen</PresentationFormat>
  <Paragraphs>120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Arial MT</vt:lpstr>
      <vt:lpstr>Calibri</vt:lpstr>
      <vt:lpstr>Cambria</vt:lpstr>
      <vt:lpstr>Courier New</vt:lpstr>
      <vt:lpstr>Symbol</vt:lpstr>
      <vt:lpstr>Times New Roman</vt:lpstr>
      <vt:lpstr>Wingdings</vt:lpstr>
      <vt:lpstr>Office Theme</vt:lpstr>
      <vt:lpstr>Office Theme</vt:lpstr>
      <vt:lpstr>PowerPoint Presentation</vt:lpstr>
      <vt:lpstr> TỔNG QUAN</vt:lpstr>
      <vt:lpstr>1. GIỚI THIỆU ĐỀ TÀI</vt:lpstr>
      <vt:lpstr> 1.1 ĐẶT VẤN ĐỀ</vt:lpstr>
      <vt:lpstr> 1.2 THỰC TRẠNG</vt:lpstr>
      <vt:lpstr> 1.3 MỤC TIÊU ĐỀ TÀI</vt:lpstr>
      <vt:lpstr> 1.5 ĐỐI TƯỢNG VÀ PHẠM VI NGHIÊN CỨU</vt:lpstr>
      <vt:lpstr>2. NỘI DUNG THỰC HIỆN</vt:lpstr>
      <vt:lpstr> 2.1 KIẾN TRÚC HỆ THỐNG</vt:lpstr>
      <vt:lpstr>1.2 MỘT SỐ GIẢI PHÁP CHO XÂY DỰNG BACKEND </vt:lpstr>
      <vt:lpstr> 2.3 MÔ HÌNH DỮ LIỆU</vt:lpstr>
      <vt:lpstr> 2.5 KẾT QUẢ ĐẠT ĐƯỢC</vt:lpstr>
      <vt:lpstr>3. KẾT LUẬN – HƯỚNG PHÁT TRIỂN</vt:lpstr>
      <vt:lpstr> 3.1 KẾT LUẬN </vt:lpstr>
      <vt:lpstr> 3.2 HƯỚNG PHÁT TRIỂN </vt:lpstr>
      <vt:lpstr>4. DEMO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Preferences and settings</dc:title>
  <dc:subject/>
  <dc:creator>Thanh Tri</dc:creator>
  <dc:description/>
  <cp:lastModifiedBy>Đỗ Sang</cp:lastModifiedBy>
  <cp:revision>756</cp:revision>
  <dcterms:created xsi:type="dcterms:W3CDTF">2023-11-07T05:30:45Z</dcterms:created>
  <dcterms:modified xsi:type="dcterms:W3CDTF">2025-08-16T09:33:00Z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2023-10-29T00:00:00Z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2023-11-07T00:00:00Z</vt:filetime>
  </property>
  <property fmtid="{D5CDD505-2E9C-101B-9397-08002B2CF9AE}" pid="5" name="MMClips">
    <vt:i4>2</vt:i4>
  </property>
  <property fmtid="{D5CDD505-2E9C-101B-9397-08002B2CF9AE}" pid="6" name="Notes">
    <vt:i4>29</vt:i4>
  </property>
  <property fmtid="{D5CDD505-2E9C-101B-9397-08002B2CF9AE}" pid="7" name="PresentationFormat">
    <vt:lpwstr>Widescreen</vt:lpwstr>
  </property>
  <property fmtid="{D5CDD505-2E9C-101B-9397-08002B2CF9AE}" pid="8" name="Slides">
    <vt:i4>39</vt:i4>
  </property>
</Properties>
</file>